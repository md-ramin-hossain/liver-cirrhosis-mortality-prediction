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7" r:id="rId1"/>
  </p:sldMasterIdLst>
  <p:notesMasterIdLst>
    <p:notesMasterId r:id="rId13"/>
  </p:notesMasterIdLst>
  <p:sldIdLst>
    <p:sldId id="256" r:id="rId2"/>
    <p:sldId id="257" r:id="rId3"/>
    <p:sldId id="258" r:id="rId4"/>
    <p:sldId id="259" r:id="rId5"/>
    <p:sldId id="260" r:id="rId6"/>
    <p:sldId id="262" r:id="rId7"/>
    <p:sldId id="264" r:id="rId8"/>
    <p:sldId id="267" r:id="rId9"/>
    <p:sldId id="272" r:id="rId10"/>
    <p:sldId id="270" r:id="rId11"/>
    <p:sldId id="271"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67B33F-CC05-EC2A-51CA-55AA0CD8AEF8}" name="Saifullah Mansur" initials="S" userId="S::mansur_41230100759@nub.ac.bd::5d022245-41c2-4ecb-8073-3e14f5deb532" providerId="AD"/>
  <p188:author id="{D83EDDC4-831C-6A72-9595-5BF5580C5A58}" name="Simon Akter" initials="SA" userId="217f2e7c54e1587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B16D5B-EA03-4875-98F8-3080264DF163}" v="38" dt="2026-07-06T06:30:22.5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98" y="8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 name="Google Shape;5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 name="Google Shape;8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0bc39c3af_4_5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g350bc39c3af_4_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0bc39c3af_4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g350bc39c3af_4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5158f718f8_0_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g35158f718f8_0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5158f718f8_0_9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g35158f718f8_0_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5158f718f8_0_9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g35158f718f8_0_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5158f718f8_0_10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g35158f718f8_0_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5158f718f8_0_7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g35158f718f8_0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6" name="Google Shape;16;p2"/>
          <p:cNvSpPr txBox="1">
            <a:spLocks noGrp="1"/>
          </p:cNvSpPr>
          <p:nvPr>
            <p:ph type="sldNum" idx="12"/>
          </p:nvPr>
        </p:nvSpPr>
        <p:spPr>
          <a:xfrm>
            <a:off x="5366236" y="6233258"/>
            <a:ext cx="550985" cy="365125"/>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0" name="Google Shape;20;p3"/>
          <p:cNvSpPr txBox="1">
            <a:spLocks noGrp="1"/>
          </p:cNvSpPr>
          <p:nvPr>
            <p:ph type="sldNum" idx="12"/>
          </p:nvPr>
        </p:nvSpPr>
        <p:spPr>
          <a:xfrm>
            <a:off x="5366236" y="6233258"/>
            <a:ext cx="550985" cy="365125"/>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838200" y="92565"/>
            <a:ext cx="10515600" cy="75149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4"/>
          <p:cNvSpPr txBox="1">
            <a:spLocks noGrp="1"/>
          </p:cNvSpPr>
          <p:nvPr>
            <p:ph type="sldNum" idx="12"/>
          </p:nvPr>
        </p:nvSpPr>
        <p:spPr>
          <a:xfrm>
            <a:off x="5366236" y="6233258"/>
            <a:ext cx="550985" cy="365125"/>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6"/>
        <p:cNvGrpSpPr/>
        <p:nvPr/>
      </p:nvGrpSpPr>
      <p:grpSpPr>
        <a:xfrm>
          <a:off x="0" y="0"/>
          <a:ext cx="0" cy="0"/>
          <a:chOff x="0" y="0"/>
          <a:chExt cx="0" cy="0"/>
        </a:xfrm>
      </p:grpSpPr>
      <p:sp>
        <p:nvSpPr>
          <p:cNvPr id="27" name="Google Shape;27;p5"/>
          <p:cNvSpPr txBox="1">
            <a:spLocks noGrp="1"/>
          </p:cNvSpPr>
          <p:nvPr>
            <p:ph type="title"/>
          </p:nvPr>
        </p:nvSpPr>
        <p:spPr>
          <a:xfrm>
            <a:off x="814387" y="259617"/>
            <a:ext cx="10515600" cy="68995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9" name="Google Shape;29;p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1" name="Google Shape;31;p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5"/>
          <p:cNvSpPr txBox="1">
            <a:spLocks noGrp="1"/>
          </p:cNvSpPr>
          <p:nvPr>
            <p:ph type="sldNum" idx="12"/>
          </p:nvPr>
        </p:nvSpPr>
        <p:spPr>
          <a:xfrm>
            <a:off x="5366236" y="6233258"/>
            <a:ext cx="550985" cy="365125"/>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838200" y="92565"/>
            <a:ext cx="10515600" cy="75149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5366236" y="6233258"/>
            <a:ext cx="550985" cy="365125"/>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839788" y="987424"/>
            <a:ext cx="3932237" cy="10699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39" name="Google Shape;39;p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0" name="Google Shape;40;p7"/>
          <p:cNvSpPr txBox="1">
            <a:spLocks noGrp="1"/>
          </p:cNvSpPr>
          <p:nvPr>
            <p:ph type="sldNum" idx="12"/>
          </p:nvPr>
        </p:nvSpPr>
        <p:spPr>
          <a:xfrm>
            <a:off x="5366236" y="6233258"/>
            <a:ext cx="550985" cy="365125"/>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839788" y="1107830"/>
            <a:ext cx="3932237" cy="94956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8"/>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44" name="Google Shape;44;p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5" name="Google Shape;45;p8"/>
          <p:cNvSpPr txBox="1">
            <a:spLocks noGrp="1"/>
          </p:cNvSpPr>
          <p:nvPr>
            <p:ph type="sldNum" idx="12"/>
          </p:nvPr>
        </p:nvSpPr>
        <p:spPr>
          <a:xfrm>
            <a:off x="5366236" y="6233258"/>
            <a:ext cx="550985" cy="365125"/>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46" name="Google Shape;46;p8"/>
          <p:cNvSpPr txBox="1"/>
          <p:nvPr/>
        </p:nvSpPr>
        <p:spPr>
          <a:xfrm>
            <a:off x="839787" y="259618"/>
            <a:ext cx="10490199" cy="558068"/>
          </a:xfrm>
          <a:prstGeom prst="rect">
            <a:avLst/>
          </a:prstGeom>
          <a:noFill/>
          <a:ln>
            <a:noFill/>
          </a:ln>
        </p:spPr>
        <p:txBody>
          <a:bodyPr spcFirstLastPara="1" wrap="square" lIns="91425" tIns="45700" rIns="91425" bIns="45700" anchor="ctr" anchorCtr="0">
            <a:normAutofit fontScale="92500" lnSpcReduction="20000"/>
          </a:bodyPr>
          <a:lstStyle/>
          <a:p>
            <a:pPr marL="0" marR="0" lvl="0" indent="0" algn="l" rtl="0">
              <a:lnSpc>
                <a:spcPct val="90000"/>
              </a:lnSpc>
              <a:spcBef>
                <a:spcPts val="0"/>
              </a:spcBef>
              <a:spcAft>
                <a:spcPts val="0"/>
              </a:spcAft>
              <a:buClr>
                <a:schemeClr val="dk1"/>
              </a:buClr>
              <a:buSzPct val="100000"/>
              <a:buFont typeface="Calibri"/>
              <a:buNone/>
            </a:pPr>
            <a:endParaRPr sz="4400">
              <a:solidFill>
                <a:schemeClr val="dk1"/>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blipFill>
          <a:blip r:embed="rId2">
            <a:alphaModFix/>
          </a:blip>
          <a:stretch>
            <a:fillRect/>
          </a:stretch>
        </a:blipFill>
        <a:effectLst/>
      </p:bgPr>
    </p:bg>
    <p:spTree>
      <p:nvGrpSpPr>
        <p:cNvPr id="1" name="Shape 47"/>
        <p:cNvGrpSpPr/>
        <p:nvPr/>
      </p:nvGrpSpPr>
      <p:grpSpPr>
        <a:xfrm>
          <a:off x="0" y="0"/>
          <a:ext cx="0" cy="0"/>
          <a:chOff x="0" y="0"/>
          <a:chExt cx="0" cy="0"/>
        </a:xfrm>
      </p:grpSpPr>
      <p:sp>
        <p:nvSpPr>
          <p:cNvPr id="48" name="Google Shape;48;p9"/>
          <p:cNvSpPr txBox="1">
            <a:spLocks noGrp="1"/>
          </p:cNvSpPr>
          <p:nvPr>
            <p:ph type="title"/>
          </p:nvPr>
        </p:nvSpPr>
        <p:spPr>
          <a:xfrm>
            <a:off x="838200" y="92565"/>
            <a:ext cx="10515600" cy="75149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9"/>
          <p:cNvSpPr txBox="1">
            <a:spLocks noGrp="1"/>
          </p:cNvSpPr>
          <p:nvPr>
            <p:ph type="sldNum" idx="12"/>
          </p:nvPr>
        </p:nvSpPr>
        <p:spPr>
          <a:xfrm>
            <a:off x="5366236" y="6233258"/>
            <a:ext cx="550985" cy="365125"/>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51"/>
        <p:cNvGrpSpPr/>
        <p:nvPr/>
      </p:nvGrpSpPr>
      <p:grpSpPr>
        <a:xfrm>
          <a:off x="0" y="0"/>
          <a:ext cx="0" cy="0"/>
          <a:chOff x="0" y="0"/>
          <a:chExt cx="0" cy="0"/>
        </a:xfrm>
      </p:grpSpPr>
      <p:sp>
        <p:nvSpPr>
          <p:cNvPr id="52" name="Google Shape;52;p10"/>
          <p:cNvSpPr txBox="1">
            <a:spLocks noGrp="1"/>
          </p:cNvSpPr>
          <p:nvPr>
            <p:ph type="sldNum" idx="12"/>
          </p:nvPr>
        </p:nvSpPr>
        <p:spPr>
          <a:xfrm>
            <a:off x="5366236" y="6233258"/>
            <a:ext cx="550985" cy="365125"/>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1">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92565"/>
            <a:ext cx="10515600" cy="751498"/>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sldNum" idx="12"/>
          </p:nvPr>
        </p:nvSpPr>
        <p:spPr>
          <a:xfrm>
            <a:off x="5366236" y="6233258"/>
            <a:ext cx="550985"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Calibri"/>
                <a:ea typeface="Calibri"/>
                <a:cs typeface="Calibri"/>
                <a:sym typeface="Calibri"/>
              </a:defRPr>
            </a:lvl1pPr>
            <a:lvl2pPr marL="0" marR="0" lvl="1" indent="0" algn="l" rtl="0">
              <a:spcBef>
                <a:spcPts val="0"/>
              </a:spcBef>
              <a:buNone/>
              <a:defRPr sz="1800" b="0" i="0" u="none" strike="noStrike" cap="none">
                <a:solidFill>
                  <a:schemeClr val="dk1"/>
                </a:solidFill>
                <a:latin typeface="Calibri"/>
                <a:ea typeface="Calibri"/>
                <a:cs typeface="Calibri"/>
                <a:sym typeface="Calibri"/>
              </a:defRPr>
            </a:lvl2pPr>
            <a:lvl3pPr marL="0" marR="0" lvl="2" indent="0" algn="l" rtl="0">
              <a:spcBef>
                <a:spcPts val="0"/>
              </a:spcBef>
              <a:buNone/>
              <a:defRPr sz="1800" b="0" i="0" u="none" strike="noStrike" cap="none">
                <a:solidFill>
                  <a:schemeClr val="dk1"/>
                </a:solidFill>
                <a:latin typeface="Calibri"/>
                <a:ea typeface="Calibri"/>
                <a:cs typeface="Calibri"/>
                <a:sym typeface="Calibri"/>
              </a:defRPr>
            </a:lvl3pPr>
            <a:lvl4pPr marL="0" marR="0" lvl="3" indent="0" algn="l" rtl="0">
              <a:spcBef>
                <a:spcPts val="0"/>
              </a:spcBef>
              <a:buNone/>
              <a:defRPr sz="1800" b="0" i="0" u="none" strike="noStrike" cap="none">
                <a:solidFill>
                  <a:schemeClr val="dk1"/>
                </a:solidFill>
                <a:latin typeface="Calibri"/>
                <a:ea typeface="Calibri"/>
                <a:cs typeface="Calibri"/>
                <a:sym typeface="Calibri"/>
              </a:defRPr>
            </a:lvl4pPr>
            <a:lvl5pPr marL="0" marR="0" lvl="4" indent="0" algn="l" rtl="0">
              <a:spcBef>
                <a:spcPts val="0"/>
              </a:spcBef>
              <a:buNone/>
              <a:defRPr sz="1800" b="0" i="0" u="none" strike="noStrike" cap="none">
                <a:solidFill>
                  <a:schemeClr val="dk1"/>
                </a:solidFill>
                <a:latin typeface="Calibri"/>
                <a:ea typeface="Calibri"/>
                <a:cs typeface="Calibri"/>
                <a:sym typeface="Calibri"/>
              </a:defRPr>
            </a:lvl5pPr>
            <a:lvl6pPr marL="0" marR="0" lvl="5" indent="0" algn="l" rtl="0">
              <a:spcBef>
                <a:spcPts val="0"/>
              </a:spcBef>
              <a:buNone/>
              <a:defRPr sz="1800" b="0" i="0" u="none" strike="noStrike" cap="none">
                <a:solidFill>
                  <a:schemeClr val="dk1"/>
                </a:solidFill>
                <a:latin typeface="Calibri"/>
                <a:ea typeface="Calibri"/>
                <a:cs typeface="Calibri"/>
                <a:sym typeface="Calibri"/>
              </a:defRPr>
            </a:lvl6pPr>
            <a:lvl7pPr marL="0" marR="0" lvl="6" indent="0" algn="l" rtl="0">
              <a:spcBef>
                <a:spcPts val="0"/>
              </a:spcBef>
              <a:buNone/>
              <a:defRPr sz="1800" b="0" i="0" u="none" strike="noStrike" cap="none">
                <a:solidFill>
                  <a:schemeClr val="dk1"/>
                </a:solidFill>
                <a:latin typeface="Calibri"/>
                <a:ea typeface="Calibri"/>
                <a:cs typeface="Calibri"/>
                <a:sym typeface="Calibri"/>
              </a:defRPr>
            </a:lvl7pPr>
            <a:lvl8pPr marL="0" marR="0" lvl="7" indent="0" algn="l" rtl="0">
              <a:spcBef>
                <a:spcPts val="0"/>
              </a:spcBef>
              <a:buNone/>
              <a:defRPr sz="1800" b="0" i="0" u="none" strike="noStrike" cap="none">
                <a:solidFill>
                  <a:schemeClr val="dk1"/>
                </a:solidFill>
                <a:latin typeface="Calibri"/>
                <a:ea typeface="Calibri"/>
                <a:cs typeface="Calibri"/>
                <a:sym typeface="Calibri"/>
              </a:defRPr>
            </a:lvl8pPr>
            <a:lvl9pPr marL="0" marR="0" lvl="8" indent="0" algn="l" rtl="0">
              <a:spcBef>
                <a:spcPts val="0"/>
              </a:spcBef>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6"/>
        <p:cNvGrpSpPr/>
        <p:nvPr/>
      </p:nvGrpSpPr>
      <p:grpSpPr>
        <a:xfrm>
          <a:off x="0" y="0"/>
          <a:ext cx="0" cy="0"/>
          <a:chOff x="0" y="0"/>
          <a:chExt cx="0" cy="0"/>
        </a:xfrm>
      </p:grpSpPr>
      <p:sp>
        <p:nvSpPr>
          <p:cNvPr id="57" name="Google Shape;57;p11"/>
          <p:cNvSpPr txBox="1">
            <a:spLocks noGrp="1" noRot="1" noMove="1" noResize="1" noEditPoints="1" noAdjustHandles="1" noChangeArrowheads="1" noChangeShapeType="1"/>
          </p:cNvSpPr>
          <p:nvPr>
            <p:ph type="ctrTitle"/>
          </p:nvPr>
        </p:nvSpPr>
        <p:spPr>
          <a:xfrm>
            <a:off x="1524000" y="1094844"/>
            <a:ext cx="9144000" cy="1287300"/>
          </a:xfrm>
          <a:prstGeom prst="rect">
            <a:avLst/>
          </a:prstGeom>
          <a:noFill/>
          <a:ln>
            <a:noFill/>
          </a:ln>
        </p:spPr>
        <p:txBody>
          <a:bodyPr spcFirstLastPara="1" wrap="square" lIns="91425" tIns="45700" rIns="91425" bIns="45700" anchor="b" anchorCtr="0">
            <a:noAutofit/>
          </a:bodyPr>
          <a:lstStyle/>
          <a:p>
            <a:pPr lvl="0" algn="just"/>
            <a:r>
              <a:rPr lang="en-US" sz="3200" b="1" dirty="0"/>
              <a:t>Explainable Mortality Prediction of Liver Cirrhosis Using Machine Learning Models</a:t>
            </a:r>
            <a:endParaRPr sz="2900" b="1" dirty="0"/>
          </a:p>
        </p:txBody>
      </p:sp>
      <p:sp>
        <p:nvSpPr>
          <p:cNvPr id="58" name="Google Shape;58;p11"/>
          <p:cNvSpPr txBox="1">
            <a:spLocks noGrp="1" noRot="1" noMove="1" noResize="1" noEditPoints="1" noAdjustHandles="1" noChangeArrowheads="1" noChangeShapeType="1"/>
          </p:cNvSpPr>
          <p:nvPr>
            <p:ph type="subTitle" idx="1"/>
          </p:nvPr>
        </p:nvSpPr>
        <p:spPr>
          <a:xfrm>
            <a:off x="1524000" y="3678250"/>
            <a:ext cx="5296800" cy="165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000" dirty="0"/>
              <a:t>Present by:</a:t>
            </a:r>
            <a:endParaRPr sz="2000" dirty="0"/>
          </a:p>
          <a:p>
            <a:pPr marL="0" lvl="0" indent="0" algn="l" rtl="0">
              <a:lnSpc>
                <a:spcPct val="90000"/>
              </a:lnSpc>
              <a:spcBef>
                <a:spcPts val="0"/>
              </a:spcBef>
              <a:spcAft>
                <a:spcPts val="0"/>
              </a:spcAft>
              <a:buClr>
                <a:schemeClr val="dk1"/>
              </a:buClr>
              <a:buSzPts val="2400"/>
              <a:buNone/>
            </a:pPr>
            <a:r>
              <a:rPr lang="en-US" sz="2300" dirty="0"/>
              <a:t>Sabus (41230101010)</a:t>
            </a:r>
          </a:p>
          <a:p>
            <a:pPr marL="0" lvl="0" indent="0" algn="l" rtl="0">
              <a:lnSpc>
                <a:spcPct val="90000"/>
              </a:lnSpc>
              <a:spcBef>
                <a:spcPts val="0"/>
              </a:spcBef>
              <a:spcAft>
                <a:spcPts val="0"/>
              </a:spcAft>
              <a:buClr>
                <a:schemeClr val="dk1"/>
              </a:buClr>
              <a:buSzPts val="2400"/>
              <a:buNone/>
            </a:pPr>
            <a:r>
              <a:rPr lang="en-US" sz="2300" dirty="0"/>
              <a:t>Md. Ramin Hossain (41230100711)</a:t>
            </a:r>
          </a:p>
          <a:p>
            <a:pPr marL="0" lvl="0" indent="0" algn="l" rtl="0">
              <a:lnSpc>
                <a:spcPct val="90000"/>
              </a:lnSpc>
              <a:spcBef>
                <a:spcPts val="0"/>
              </a:spcBef>
              <a:spcAft>
                <a:spcPts val="0"/>
              </a:spcAft>
              <a:buClr>
                <a:schemeClr val="dk1"/>
              </a:buClr>
              <a:buSzPts val="2400"/>
              <a:buNone/>
            </a:pPr>
            <a:r>
              <a:rPr lang="en-US" sz="2300" dirty="0"/>
              <a:t>Saifullah Mansur (41230100759)</a:t>
            </a:r>
          </a:p>
          <a:p>
            <a:pPr marL="0" lvl="0" indent="0" algn="l" rtl="0">
              <a:lnSpc>
                <a:spcPct val="90000"/>
              </a:lnSpc>
              <a:spcBef>
                <a:spcPts val="0"/>
              </a:spcBef>
              <a:spcAft>
                <a:spcPts val="0"/>
              </a:spcAft>
              <a:buClr>
                <a:schemeClr val="dk1"/>
              </a:buClr>
              <a:buSzPts val="2400"/>
              <a:buNone/>
            </a:pPr>
            <a:r>
              <a:rPr lang="en-US" sz="2300" dirty="0"/>
              <a:t>Md. Nazmul Hassan ( 41230100695)</a:t>
            </a:r>
            <a:endParaRPr sz="2300" dirty="0"/>
          </a:p>
        </p:txBody>
      </p:sp>
      <p:sp>
        <p:nvSpPr>
          <p:cNvPr id="59" name="Google Shape;59;p11"/>
          <p:cNvSpPr txBox="1">
            <a:spLocks noGrp="1" noRot="1" noMove="1" noResize="1" noEditPoints="1" noAdjustHandles="1" noChangeArrowheads="1" noChangeShapeType="1"/>
          </p:cNvSpPr>
          <p:nvPr>
            <p:ph type="sldNum" idx="12"/>
          </p:nvPr>
        </p:nvSpPr>
        <p:spPr>
          <a:xfrm>
            <a:off x="5366236" y="6233258"/>
            <a:ext cx="550985"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a:t>
            </a:fld>
            <a:endParaRPr/>
          </a:p>
        </p:txBody>
      </p:sp>
      <p:sp>
        <p:nvSpPr>
          <p:cNvPr id="60" name="Google Shape;60;p11"/>
          <p:cNvSpPr txBox="1">
            <a:spLocks noGrp="1" noRot="1" noMove="1" noResize="1" noEditPoints="1" noAdjustHandles="1" noChangeArrowheads="1" noChangeShapeType="1"/>
          </p:cNvSpPr>
          <p:nvPr/>
        </p:nvSpPr>
        <p:spPr>
          <a:xfrm>
            <a:off x="1569300" y="185350"/>
            <a:ext cx="9144000" cy="60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900" b="1" dirty="0">
                <a:solidFill>
                  <a:srgbClr val="34368C"/>
                </a:solidFill>
                <a:latin typeface="Calibri"/>
                <a:ea typeface="Calibri"/>
                <a:cs typeface="Calibri"/>
                <a:sym typeface="Calibri"/>
              </a:rPr>
              <a:t>Northern University Bangladesh</a:t>
            </a:r>
            <a:endParaRPr sz="2900" b="1" dirty="0">
              <a:solidFill>
                <a:srgbClr val="34368C"/>
              </a:solidFill>
              <a:latin typeface="Calibri"/>
              <a:ea typeface="Calibri"/>
              <a:cs typeface="Calibri"/>
              <a:sym typeface="Calibri"/>
            </a:endParaRPr>
          </a:p>
        </p:txBody>
      </p:sp>
      <p:sp>
        <p:nvSpPr>
          <p:cNvPr id="66" name="Google Shape;66;p11"/>
          <p:cNvSpPr txBox="1">
            <a:spLocks noGrp="1" noRot="1" noMove="1" noResize="1" noEditPoints="1" noAdjustHandles="1" noChangeArrowheads="1" noChangeShapeType="1"/>
          </p:cNvSpPr>
          <p:nvPr>
            <p:ph type="subTitle" idx="1"/>
          </p:nvPr>
        </p:nvSpPr>
        <p:spPr>
          <a:xfrm>
            <a:off x="6685000" y="3678250"/>
            <a:ext cx="4230300" cy="1655700"/>
          </a:xfrm>
          <a:prstGeom prst="rect">
            <a:avLst/>
          </a:prstGeom>
          <a:noFill/>
          <a:ln>
            <a:noFill/>
          </a:ln>
        </p:spPr>
        <p:txBody>
          <a:bodyPr spcFirstLastPara="1" wrap="square" lIns="91425" tIns="45700" rIns="91425" bIns="45700" anchor="t" anchorCtr="0">
            <a:normAutofit/>
          </a:bodyPr>
          <a:lstStyle/>
          <a:p>
            <a:pPr marL="0" lvl="0" indent="0" algn="r" rtl="0">
              <a:lnSpc>
                <a:spcPct val="80000"/>
              </a:lnSpc>
              <a:spcBef>
                <a:spcPts val="0"/>
              </a:spcBef>
              <a:spcAft>
                <a:spcPts val="0"/>
              </a:spcAft>
              <a:buClr>
                <a:schemeClr val="dk1"/>
              </a:buClr>
              <a:buSzPts val="2400"/>
              <a:buNone/>
            </a:pPr>
            <a:r>
              <a:rPr lang="en-US" sz="2000"/>
              <a:t>Supervised by</a:t>
            </a:r>
            <a:endParaRPr sz="2000"/>
          </a:p>
          <a:p>
            <a:pPr marL="0" lvl="0" indent="0" algn="r" rtl="0">
              <a:lnSpc>
                <a:spcPct val="80000"/>
              </a:lnSpc>
              <a:spcBef>
                <a:spcPts val="0"/>
              </a:spcBef>
              <a:spcAft>
                <a:spcPts val="0"/>
              </a:spcAft>
              <a:buClr>
                <a:schemeClr val="dk1"/>
              </a:buClr>
              <a:buSzPts val="2400"/>
              <a:buNone/>
            </a:pPr>
            <a:r>
              <a:rPr lang="en-US" sz="2300" b="1">
                <a:solidFill>
                  <a:srgbClr val="34368C"/>
                </a:solidFill>
              </a:rPr>
              <a:t>Simon Bin Akter</a:t>
            </a:r>
            <a:endParaRPr sz="2300" b="1">
              <a:solidFill>
                <a:srgbClr val="34368C"/>
              </a:solidFill>
            </a:endParaRPr>
          </a:p>
          <a:p>
            <a:pPr marL="0" lvl="0" indent="0" algn="r" rtl="0">
              <a:lnSpc>
                <a:spcPct val="80000"/>
              </a:lnSpc>
              <a:spcBef>
                <a:spcPts val="0"/>
              </a:spcBef>
              <a:spcAft>
                <a:spcPts val="0"/>
              </a:spcAft>
              <a:buClr>
                <a:schemeClr val="dk1"/>
              </a:buClr>
              <a:buSzPts val="2400"/>
              <a:buNone/>
            </a:pPr>
            <a:r>
              <a:rPr lang="en-US" sz="2300"/>
              <a:t>Lecturer </a:t>
            </a:r>
            <a:endParaRPr sz="2300"/>
          </a:p>
          <a:p>
            <a:pPr marL="0" lvl="0" indent="0" algn="r" rtl="0">
              <a:lnSpc>
                <a:spcPct val="80000"/>
              </a:lnSpc>
              <a:spcBef>
                <a:spcPts val="0"/>
              </a:spcBef>
              <a:spcAft>
                <a:spcPts val="0"/>
              </a:spcAft>
              <a:buClr>
                <a:schemeClr val="dk1"/>
              </a:buClr>
              <a:buSzPts val="2400"/>
              <a:buNone/>
            </a:pPr>
            <a:r>
              <a:rPr lang="en-US" sz="2300"/>
              <a:t>Department Of CSE</a:t>
            </a:r>
            <a:endParaRPr sz="2300"/>
          </a:p>
          <a:p>
            <a:pPr marL="0" lvl="0" indent="0" algn="r" rtl="0">
              <a:lnSpc>
                <a:spcPct val="80000"/>
              </a:lnSpc>
              <a:spcBef>
                <a:spcPts val="0"/>
              </a:spcBef>
              <a:spcAft>
                <a:spcPts val="0"/>
              </a:spcAft>
              <a:buClr>
                <a:schemeClr val="dk1"/>
              </a:buClr>
              <a:buSzPts val="2400"/>
              <a:buNone/>
            </a:pPr>
            <a:r>
              <a:rPr lang="en-US" sz="2300"/>
              <a:t>Northern University Bangladesh</a:t>
            </a:r>
            <a:endParaRPr sz="23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2"/>
          <p:cNvSpPr txBox="1">
            <a:spLocks noGrp="1" noRot="1" noMove="1" noResize="1" noEditPoints="1" noAdjustHandles="1" noChangeArrowheads="1" noChangeShapeType="1"/>
          </p:cNvSpPr>
          <p:nvPr>
            <p:ph type="title"/>
          </p:nvPr>
        </p:nvSpPr>
        <p:spPr>
          <a:xfrm>
            <a:off x="838200" y="92565"/>
            <a:ext cx="10515600" cy="75149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200" b="1" dirty="0">
                <a:latin typeface="Arial"/>
                <a:ea typeface="Arial"/>
                <a:cs typeface="Arial"/>
                <a:sym typeface="Arial"/>
              </a:rPr>
              <a:t>Introduction</a:t>
            </a:r>
            <a:endParaRPr sz="6500" dirty="0"/>
          </a:p>
        </p:txBody>
      </p:sp>
      <p:sp>
        <p:nvSpPr>
          <p:cNvPr id="72" name="Google Shape;72;p12"/>
          <p:cNvSpPr txBox="1">
            <a:spLocks noGrp="1" noRot="1" noMove="1" noResize="1" noEditPoints="1" noAdjustHandles="1" noChangeArrowheads="1" noChangeShapeType="1"/>
          </p:cNvSpPr>
          <p:nvPr>
            <p:ph type="sldNum" idx="12"/>
          </p:nvPr>
        </p:nvSpPr>
        <p:spPr>
          <a:xfrm>
            <a:off x="5366236" y="6233258"/>
            <a:ext cx="550985"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a:t>
            </a:fld>
            <a:endParaRPr/>
          </a:p>
        </p:txBody>
      </p:sp>
      <p:sp>
        <p:nvSpPr>
          <p:cNvPr id="73" name="Google Shape;73;p12"/>
          <p:cNvSpPr txBox="1">
            <a:spLocks noGrp="1" noRot="1" noMove="1" noResize="1" noEditPoints="1" noAdjustHandles="1" noChangeArrowheads="1" noChangeShapeType="1"/>
          </p:cNvSpPr>
          <p:nvPr/>
        </p:nvSpPr>
        <p:spPr>
          <a:xfrm>
            <a:off x="864975" y="959700"/>
            <a:ext cx="10427100" cy="1214100"/>
          </a:xfrm>
          <a:prstGeom prst="rect">
            <a:avLst/>
          </a:prstGeom>
          <a:noFill/>
          <a:ln>
            <a:noFill/>
          </a:ln>
        </p:spPr>
        <p:txBody>
          <a:bodyPr spcFirstLastPara="1" wrap="square" lIns="91425" tIns="91425" rIns="91425" bIns="91425" anchor="t" anchorCtr="0">
            <a:noAutofit/>
          </a:bodyPr>
          <a:lstStyle/>
          <a:p>
            <a:pPr lvl="0" algn="just"/>
            <a:r>
              <a:rPr lang="en-US" sz="1800" b="1" dirty="0"/>
              <a:t>Liver cirrhosis is a chronic liver disease</a:t>
            </a:r>
            <a:r>
              <a:rPr lang="en-US" sz="1800" dirty="0"/>
              <a:t> in which healthy liver tissue is gradually replaced by scar tissue, reducing liver function. Predicting mortality in cirrhosis patients remains challenging due to class imbalance and complex clinical data.</a:t>
            </a:r>
            <a:endParaRPr sz="1800" dirty="0">
              <a:solidFill>
                <a:schemeClr val="dk1"/>
              </a:solidFill>
              <a:latin typeface="Calibri"/>
              <a:ea typeface="Calibri"/>
              <a:cs typeface="Calibri"/>
              <a:sym typeface="Calibri"/>
            </a:endParaRPr>
          </a:p>
        </p:txBody>
      </p:sp>
      <p:sp>
        <p:nvSpPr>
          <p:cNvPr id="74" name="Google Shape;74;p12"/>
          <p:cNvSpPr txBox="1">
            <a:spLocks noGrp="1" noRot="1" noMove="1" noResize="1" noEditPoints="1" noAdjustHandles="1" noChangeArrowheads="1" noChangeShapeType="1"/>
          </p:cNvSpPr>
          <p:nvPr/>
        </p:nvSpPr>
        <p:spPr>
          <a:xfrm>
            <a:off x="864975" y="1893150"/>
            <a:ext cx="10427100" cy="1797900"/>
          </a:xfrm>
          <a:prstGeom prst="rect">
            <a:avLst/>
          </a:prstGeom>
          <a:noFill/>
          <a:ln>
            <a:noFill/>
          </a:ln>
        </p:spPr>
        <p:txBody>
          <a:bodyPr spcFirstLastPara="1" wrap="square" lIns="91425" tIns="91425" rIns="91425" bIns="91425" anchor="t" anchorCtr="0">
            <a:noAutofit/>
          </a:bodyPr>
          <a:lstStyle/>
          <a:p>
            <a:pPr algn="just"/>
            <a:r>
              <a:rPr lang="en-US" sz="2500" b="1" dirty="0">
                <a:solidFill>
                  <a:schemeClr val="dk1"/>
                </a:solidFill>
                <a:latin typeface="Calibri"/>
                <a:ea typeface="Calibri"/>
                <a:cs typeface="Calibri"/>
                <a:sym typeface="Calibri"/>
              </a:rPr>
              <a:t>What did we do?</a:t>
            </a:r>
            <a:br>
              <a:rPr lang="en-US" sz="2500" b="1" dirty="0">
                <a:solidFill>
                  <a:schemeClr val="dk1"/>
                </a:solidFill>
                <a:latin typeface="Calibri"/>
                <a:ea typeface="Calibri"/>
                <a:cs typeface="Calibri"/>
                <a:sym typeface="Calibri"/>
              </a:rPr>
            </a:br>
            <a:r>
              <a:rPr lang="en-US" sz="1800" dirty="0"/>
              <a:t>This study predicts mortality outcomes of liver cirrhosis patients using multiple machine learning and deep learning models. A major challenge was the imbalance between censored and death cases, which often affects prediction performance. Different sampling techniques were applied to reduce class imbalance and identify the most reliable predictive model.</a:t>
            </a:r>
          </a:p>
          <a:p>
            <a:pPr lvl="0" algn="just"/>
            <a:endParaRPr sz="1800" dirty="0">
              <a:solidFill>
                <a:schemeClr val="dk1"/>
              </a:solidFill>
              <a:latin typeface="Calibri"/>
              <a:ea typeface="Calibri"/>
              <a:cs typeface="Calibri"/>
              <a:sym typeface="Calibri"/>
            </a:endParaRPr>
          </a:p>
        </p:txBody>
      </p:sp>
      <p:sp>
        <p:nvSpPr>
          <p:cNvPr id="75" name="Google Shape;75;p12"/>
          <p:cNvSpPr txBox="1">
            <a:spLocks noGrp="1" noRot="1" noMove="1" noResize="1" noEditPoints="1" noAdjustHandles="1" noChangeArrowheads="1" noChangeShapeType="1"/>
          </p:cNvSpPr>
          <p:nvPr/>
        </p:nvSpPr>
        <p:spPr>
          <a:xfrm>
            <a:off x="864975" y="3457725"/>
            <a:ext cx="5678400" cy="277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500" b="1" dirty="0">
                <a:solidFill>
                  <a:schemeClr val="dk1"/>
                </a:solidFill>
                <a:latin typeface="Calibri"/>
                <a:ea typeface="Calibri"/>
                <a:cs typeface="Calibri"/>
                <a:sym typeface="Calibri"/>
              </a:rPr>
              <a:t>How does this improve healthcare?</a:t>
            </a:r>
            <a:endParaRPr sz="2500" b="1" dirty="0">
              <a:solidFill>
                <a:schemeClr val="dk1"/>
              </a:solidFill>
              <a:latin typeface="Calibri"/>
              <a:ea typeface="Calibri"/>
              <a:cs typeface="Calibri"/>
              <a:sym typeface="Calibri"/>
            </a:endParaRPr>
          </a:p>
          <a:p>
            <a:pPr lvl="0" algn="just"/>
            <a:r>
              <a:rPr lang="en-US" sz="1800" dirty="0"/>
              <a:t>Early mortality prediction helps clinicians identify high-risk patients and supports timely clinical intervention. Reliable prediction models can assist healthcare professionals in monitoring disease progression and making informed treatment decisions. This study demonstrates improved prediction performance, which may contribute to better patient management and clinical decision-making.</a:t>
            </a:r>
            <a:endParaRPr sz="1800" dirty="0">
              <a:solidFill>
                <a:schemeClr val="dk1"/>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AE3040C2-41C2-8AB7-59FC-2A8C25E4D004}"/>
              </a:ext>
            </a:extLst>
          </p:cNvPr>
          <p:cNvPicPr>
            <a:picLocks noGrp="1" noRot="1" noChangeAspect="1" noMove="1" noResize="1" noEditPoints="1" noAdjustHandles="1" noChangeArrowheads="1" noChangeShapeType="1" noCrop="1"/>
          </p:cNvPicPr>
          <p:nvPr/>
        </p:nvPicPr>
        <p:blipFill>
          <a:blip r:embed="rId3"/>
          <a:stretch>
            <a:fillRect/>
          </a:stretch>
        </p:blipFill>
        <p:spPr>
          <a:xfrm>
            <a:off x="6860817" y="3773346"/>
            <a:ext cx="4492983" cy="201500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noRot="1" noMove="1" noResize="1" noEditPoints="1" noAdjustHandles="1" noChangeArrowheads="1" noChangeShapeType="1"/>
          </p:cNvSpPr>
          <p:nvPr>
            <p:ph type="title"/>
          </p:nvPr>
        </p:nvSpPr>
        <p:spPr>
          <a:xfrm>
            <a:off x="814375" y="124250"/>
            <a:ext cx="10515600" cy="7593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200" b="1" dirty="0">
                <a:latin typeface="Arial"/>
                <a:ea typeface="Arial"/>
                <a:cs typeface="Arial"/>
                <a:sym typeface="Arial"/>
              </a:rPr>
              <a:t>Limitation of Literature Review</a:t>
            </a:r>
            <a:endParaRPr sz="6500" dirty="0"/>
          </a:p>
        </p:txBody>
      </p:sp>
      <p:sp>
        <p:nvSpPr>
          <p:cNvPr id="87" name="Google Shape;87;p13"/>
          <p:cNvSpPr txBox="1">
            <a:spLocks noGrp="1" noRot="1" noMove="1" noResize="1" noEditPoints="1" noAdjustHandles="1" noChangeArrowheads="1" noChangeShapeType="1"/>
          </p:cNvSpPr>
          <p:nvPr>
            <p:ph type="sldNum" idx="12"/>
          </p:nvPr>
        </p:nvSpPr>
        <p:spPr>
          <a:xfrm>
            <a:off x="5366236" y="6233258"/>
            <a:ext cx="550985"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3</a:t>
            </a:fld>
            <a:endParaRPr/>
          </a:p>
        </p:txBody>
      </p:sp>
      <p:sp>
        <p:nvSpPr>
          <p:cNvPr id="88" name="Google Shape;88;p13"/>
          <p:cNvSpPr txBox="1">
            <a:spLocks noGrp="1" noRot="1" noMove="1" noResize="1" noEditPoints="1" noAdjustHandles="1" noChangeArrowheads="1" noChangeShapeType="1"/>
          </p:cNvSpPr>
          <p:nvPr/>
        </p:nvSpPr>
        <p:spPr>
          <a:xfrm>
            <a:off x="803265" y="1041950"/>
            <a:ext cx="5963400" cy="2222700"/>
          </a:xfrm>
          <a:prstGeom prst="rect">
            <a:avLst/>
          </a:prstGeom>
          <a:noFill/>
          <a:ln>
            <a:noFill/>
          </a:ln>
        </p:spPr>
        <p:txBody>
          <a:bodyPr spcFirstLastPara="1" wrap="square" lIns="91425" tIns="91425" rIns="91425" bIns="91425" anchor="t" anchorCtr="0">
            <a:noAutofit/>
          </a:bodyPr>
          <a:lstStyle/>
          <a:p>
            <a:pPr lvl="0" algn="just"/>
            <a:r>
              <a:rPr lang="en-US" sz="1600" dirty="0"/>
              <a:t>Machine learning models used for liver cirrhosis prediction in prior studies published [1], [2], [3], [4], especially those using the Mayo Clinic primary biliary cirrhosis dataset, have shown promising prediction performance. Many studies published in well-known journals have highlighted the effectiveness of different machine learning models for predicting liver cirrhosis outcomes. However, these studies also reported several challenges, including class imbalance, limited external validation, and poor model interpretability, which reduce the reliability of prediction in real clinical settings [1], [2], [3], [4].</a:t>
            </a:r>
            <a:endParaRPr sz="1600" b="1" dirty="0">
              <a:solidFill>
                <a:schemeClr val="dk1"/>
              </a:solidFill>
              <a:latin typeface="Calibri"/>
              <a:ea typeface="Calibri"/>
              <a:cs typeface="Calibri"/>
              <a:sym typeface="Calibri"/>
            </a:endParaRPr>
          </a:p>
        </p:txBody>
      </p:sp>
      <p:sp>
        <p:nvSpPr>
          <p:cNvPr id="91" name="Google Shape;91;p13"/>
          <p:cNvSpPr txBox="1">
            <a:spLocks noGrp="1" noRot="1" noMove="1" noResize="1" noEditPoints="1" noAdjustHandles="1" noChangeArrowheads="1" noChangeShapeType="1"/>
          </p:cNvSpPr>
          <p:nvPr/>
        </p:nvSpPr>
        <p:spPr>
          <a:xfrm>
            <a:off x="8991060" y="2835941"/>
            <a:ext cx="900600" cy="44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dirty="0">
                <a:solidFill>
                  <a:schemeClr val="dk1"/>
                </a:solidFill>
                <a:latin typeface="Calibri"/>
                <a:ea typeface="Calibri"/>
                <a:cs typeface="Calibri"/>
                <a:sym typeface="Calibri"/>
              </a:rPr>
              <a:t>Ref: [4]</a:t>
            </a:r>
            <a:endParaRPr sz="1600" dirty="0">
              <a:solidFill>
                <a:schemeClr val="dk1"/>
              </a:solidFill>
              <a:latin typeface="Calibri"/>
              <a:ea typeface="Calibri"/>
              <a:cs typeface="Calibri"/>
              <a:sym typeface="Calibri"/>
            </a:endParaRPr>
          </a:p>
        </p:txBody>
      </p:sp>
      <p:sp>
        <p:nvSpPr>
          <p:cNvPr id="92" name="Google Shape;92;p13"/>
          <p:cNvSpPr txBox="1">
            <a:spLocks noGrp="1" noRot="1" noMove="1" noResize="1" noEditPoints="1" noAdjustHandles="1" noChangeArrowheads="1" noChangeShapeType="1"/>
          </p:cNvSpPr>
          <p:nvPr/>
        </p:nvSpPr>
        <p:spPr>
          <a:xfrm>
            <a:off x="883475" y="3945126"/>
            <a:ext cx="9058200" cy="1590824"/>
          </a:xfrm>
          <a:prstGeom prst="rect">
            <a:avLst/>
          </a:prstGeom>
          <a:noFill/>
          <a:ln>
            <a:noFill/>
          </a:ln>
        </p:spPr>
        <p:txBody>
          <a:bodyPr spcFirstLastPara="1" wrap="square" lIns="91425" tIns="91425" rIns="91425" bIns="91425" anchor="t" anchorCtr="0">
            <a:noAutofit/>
          </a:bodyPr>
          <a:lstStyle/>
          <a:p>
            <a:pPr>
              <a:lnSpc>
                <a:spcPct val="150000"/>
              </a:lnSpc>
            </a:pPr>
            <a:r>
              <a:rPr lang="en-US" sz="2100" b="1" dirty="0"/>
              <a:t>➜ Class imbalance affects mortality prediction performance.</a:t>
            </a:r>
            <a:endParaRPr lang="en-US" sz="2100" dirty="0"/>
          </a:p>
          <a:p>
            <a:pPr>
              <a:lnSpc>
                <a:spcPct val="150000"/>
              </a:lnSpc>
            </a:pPr>
            <a:r>
              <a:rPr lang="en-US" sz="2100" b="1" dirty="0"/>
              <a:t>➜ </a:t>
            </a:r>
            <a:r>
              <a:rPr lang="en-US" sz="2400" b="1" dirty="0">
                <a:latin typeface="Calibri" panose="020F0502020204030204" pitchFamily="34" charset="0"/>
                <a:ea typeface="Calibri" panose="020F0502020204030204" pitchFamily="34" charset="0"/>
                <a:cs typeface="Calibri" panose="020F0502020204030204" pitchFamily="34" charset="0"/>
              </a:rPr>
              <a:t>Reduces the model's ability to perform well on other datasets</a:t>
            </a:r>
            <a:r>
              <a:rPr lang="en-US" sz="2100" b="1" dirty="0">
                <a:latin typeface="Calibri" panose="020F0502020204030204" pitchFamily="34" charset="0"/>
                <a:ea typeface="Calibri" panose="020F0502020204030204" pitchFamily="34" charset="0"/>
                <a:cs typeface="Calibri" panose="020F0502020204030204" pitchFamily="34" charset="0"/>
              </a:rPr>
              <a:t>.</a:t>
            </a:r>
          </a:p>
          <a:p>
            <a:pPr>
              <a:lnSpc>
                <a:spcPct val="150000"/>
              </a:lnSpc>
            </a:pPr>
            <a:r>
              <a:rPr lang="en-US" sz="2100" b="1" dirty="0"/>
              <a:t>➜ Limited model interpretability for clinical use.</a:t>
            </a:r>
            <a:endParaRPr lang="en-US" sz="2100" dirty="0"/>
          </a:p>
        </p:txBody>
      </p:sp>
      <p:pic>
        <p:nvPicPr>
          <p:cNvPr id="11" name="Picture 10">
            <a:extLst>
              <a:ext uri="{FF2B5EF4-FFF2-40B4-BE49-F238E27FC236}">
                <a16:creationId xmlns:a16="http://schemas.microsoft.com/office/drawing/2014/main" id="{D697741F-D231-567C-96FD-722BF7032F15}"/>
              </a:ext>
            </a:extLst>
          </p:cNvPr>
          <p:cNvPicPr>
            <a:picLocks noGrp="1" noRot="1" noChangeAspect="1" noMove="1" noResize="1" noEditPoints="1" noAdjustHandles="1" noChangeArrowheads="1" noChangeShapeType="1" noCrop="1"/>
          </p:cNvPicPr>
          <p:nvPr/>
        </p:nvPicPr>
        <p:blipFill>
          <a:blip r:embed="rId3"/>
          <a:stretch>
            <a:fillRect/>
          </a:stretch>
        </p:blipFill>
        <p:spPr>
          <a:xfrm>
            <a:off x="7136636" y="1079858"/>
            <a:ext cx="4384804" cy="1849329"/>
          </a:xfrm>
          <a:prstGeom prst="rect">
            <a:avLst/>
          </a:prstGeom>
        </p:spPr>
      </p:pic>
      <p:sp>
        <p:nvSpPr>
          <p:cNvPr id="90" name="Google Shape;90;p13"/>
          <p:cNvSpPr>
            <a:spLocks noGrp="1" noRot="1" noMove="1" noResize="1" noEditPoints="1" noAdjustHandles="1" noChangeArrowheads="1" noChangeShapeType="1"/>
          </p:cNvSpPr>
          <p:nvPr/>
        </p:nvSpPr>
        <p:spPr>
          <a:xfrm>
            <a:off x="6947281" y="2520342"/>
            <a:ext cx="414000" cy="365100"/>
          </a:xfrm>
          <a:prstGeom prst="rightArrow">
            <a:avLst>
              <a:gd name="adj1" fmla="val 50000"/>
              <a:gd name="adj2" fmla="val 50000"/>
            </a:avLst>
          </a:prstGeom>
          <a:solidFill>
            <a:srgbClr val="CC0000"/>
          </a:solidFill>
          <a:ln w="9525" cap="flat" cmpd="sng">
            <a:solidFill>
              <a:srgbClr val="99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CC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10" name="Google Shape;111;p15">
            <a:extLst>
              <a:ext uri="{FF2B5EF4-FFF2-40B4-BE49-F238E27FC236}">
                <a16:creationId xmlns:a16="http://schemas.microsoft.com/office/drawing/2014/main" id="{59995AA6-E9FE-0ECA-1746-BAE4DD6195D4}"/>
              </a:ext>
            </a:extLst>
          </p:cNvPr>
          <p:cNvSpPr>
            <a:spLocks noGrp="1" noRot="1" noMove="1" noResize="1" noEditPoints="1" noAdjustHandles="1" noChangeArrowheads="1" noChangeShapeType="1"/>
          </p:cNvSpPr>
          <p:nvPr/>
        </p:nvSpPr>
        <p:spPr>
          <a:xfrm>
            <a:off x="827244" y="1180783"/>
            <a:ext cx="5768700" cy="48609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98" name="Google Shape;98;p14"/>
          <p:cNvSpPr txBox="1">
            <a:spLocks noGrp="1" noRot="1" noMove="1" noResize="1" noEditPoints="1" noAdjustHandles="1" noChangeArrowheads="1" noChangeShapeType="1"/>
          </p:cNvSpPr>
          <p:nvPr>
            <p:ph type="title"/>
          </p:nvPr>
        </p:nvSpPr>
        <p:spPr>
          <a:xfrm>
            <a:off x="838200" y="92565"/>
            <a:ext cx="10515600" cy="751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200" b="1" dirty="0">
                <a:latin typeface="Arial"/>
                <a:ea typeface="Arial"/>
                <a:cs typeface="Arial"/>
                <a:sym typeface="Arial"/>
              </a:rPr>
              <a:t>Overview of Datasets</a:t>
            </a:r>
            <a:endParaRPr sz="6500" dirty="0">
              <a:solidFill>
                <a:srgbClr val="FF0000"/>
              </a:solidFill>
            </a:endParaRPr>
          </a:p>
        </p:txBody>
      </p:sp>
      <p:sp>
        <p:nvSpPr>
          <p:cNvPr id="99" name="Google Shape;99;p14"/>
          <p:cNvSpPr txBox="1">
            <a:spLocks noGrp="1" noRot="1" noMove="1" noResize="1" noEditPoints="1" noAdjustHandles="1" noChangeArrowheads="1" noChangeShapeType="1"/>
          </p:cNvSpPr>
          <p:nvPr>
            <p:ph type="sldNum" idx="12"/>
          </p:nvPr>
        </p:nvSpPr>
        <p:spPr>
          <a:xfrm>
            <a:off x="5366236" y="6233258"/>
            <a:ext cx="5511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4</a:t>
            </a:fld>
            <a:endParaRPr/>
          </a:p>
        </p:txBody>
      </p:sp>
      <p:sp>
        <p:nvSpPr>
          <p:cNvPr id="2" name="Google Shape;106;p14">
            <a:extLst>
              <a:ext uri="{FF2B5EF4-FFF2-40B4-BE49-F238E27FC236}">
                <a16:creationId xmlns:a16="http://schemas.microsoft.com/office/drawing/2014/main" id="{0BCF02F2-A7F3-BC58-5225-E75D186B48C3}"/>
              </a:ext>
            </a:extLst>
          </p:cNvPr>
          <p:cNvSpPr txBox="1">
            <a:spLocks noGrp="1" noRot="1" noMove="1" noResize="1" noEditPoints="1" noAdjustHandles="1" noChangeArrowheads="1" noChangeShapeType="1"/>
          </p:cNvSpPr>
          <p:nvPr/>
        </p:nvSpPr>
        <p:spPr>
          <a:xfrm>
            <a:off x="6856175" y="3436272"/>
            <a:ext cx="4662985" cy="3634150"/>
          </a:xfrm>
          <a:prstGeom prst="rect">
            <a:avLst/>
          </a:prstGeom>
          <a:noFill/>
          <a:ln>
            <a:noFill/>
          </a:ln>
        </p:spPr>
        <p:txBody>
          <a:bodyPr spcFirstLastPara="1" wrap="square" lIns="91425" tIns="91425" rIns="91425" bIns="91425" anchor="t" anchorCtr="0">
            <a:noAutofit/>
          </a:bodyPr>
          <a:lstStyle/>
          <a:p>
            <a:pPr marL="457200" lvl="0" indent="-355600" algn="l" rtl="0">
              <a:lnSpc>
                <a:spcPct val="150000"/>
              </a:lnSpc>
              <a:spcBef>
                <a:spcPts val="0"/>
              </a:spcBef>
              <a:spcAft>
                <a:spcPts val="0"/>
              </a:spcAft>
              <a:buClr>
                <a:schemeClr val="dk1"/>
              </a:buClr>
              <a:buSzPts val="2000"/>
              <a:buFont typeface="Calibri"/>
              <a:buChar char="➔"/>
            </a:pPr>
            <a:r>
              <a:rPr lang="en-US" sz="2000" dirty="0">
                <a:solidFill>
                  <a:schemeClr val="dk1"/>
                </a:solidFill>
                <a:latin typeface="Calibri"/>
                <a:ea typeface="Calibri"/>
                <a:cs typeface="Calibri"/>
                <a:sym typeface="Calibri"/>
              </a:rPr>
              <a:t>The dataset is imbalanced</a:t>
            </a:r>
            <a:endParaRPr sz="2000" dirty="0">
              <a:solidFill>
                <a:schemeClr val="dk1"/>
              </a:solidFill>
              <a:latin typeface="Calibri"/>
              <a:ea typeface="Calibri"/>
              <a:cs typeface="Calibri"/>
              <a:sym typeface="Calibri"/>
            </a:endParaRPr>
          </a:p>
          <a:p>
            <a:pPr marL="457200" lvl="0" indent="-355600">
              <a:buClr>
                <a:schemeClr val="dk1"/>
              </a:buClr>
              <a:buSzPts val="2000"/>
              <a:buFont typeface="Calibri"/>
              <a:buChar char="➔"/>
            </a:pPr>
            <a:r>
              <a:rPr lang="en-US" sz="2000" dirty="0">
                <a:latin typeface="Calibri" panose="020F0502020204030204" pitchFamily="34" charset="0"/>
                <a:ea typeface="Calibri" panose="020F0502020204030204" pitchFamily="34" charset="0"/>
                <a:cs typeface="Calibri" panose="020F0502020204030204" pitchFamily="34" charset="0"/>
              </a:rPr>
              <a:t>The testing set remains unchanged for fair model evaluation.</a:t>
            </a:r>
          </a:p>
          <a:p>
            <a:pPr marL="457200" lvl="0" indent="-355600">
              <a:buClr>
                <a:schemeClr val="dk1"/>
              </a:buClr>
              <a:buSzPts val="2000"/>
              <a:buFont typeface="Calibri"/>
              <a:buChar char="➔"/>
            </a:pPr>
            <a:r>
              <a:rPr lang="en-US" sz="2000" dirty="0"/>
              <a:t>SMOTENC achieved the best-balanced training distribution.</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pic>
        <p:nvPicPr>
          <p:cNvPr id="3" name="Picture 2">
            <a:extLst>
              <a:ext uri="{FF2B5EF4-FFF2-40B4-BE49-F238E27FC236}">
                <a16:creationId xmlns:a16="http://schemas.microsoft.com/office/drawing/2014/main" id="{BE1BB8CE-9D89-EFC3-9B01-F0FE95B32F94}"/>
              </a:ext>
            </a:extLst>
          </p:cNvPr>
          <p:cNvPicPr>
            <a:picLocks noGrp="1" noRot="1" noChangeAspect="1" noMove="1" noResize="1" noEditPoints="1" noAdjustHandles="1" noChangeArrowheads="1" noChangeShapeType="1" noCrop="1"/>
          </p:cNvPicPr>
          <p:nvPr/>
        </p:nvPicPr>
        <p:blipFill>
          <a:blip r:embed="rId3"/>
          <a:stretch>
            <a:fillRect/>
          </a:stretch>
        </p:blipFill>
        <p:spPr>
          <a:xfrm>
            <a:off x="979825" y="1305304"/>
            <a:ext cx="2511097" cy="2130968"/>
          </a:xfrm>
          <a:prstGeom prst="rect">
            <a:avLst/>
          </a:prstGeom>
        </p:spPr>
      </p:pic>
      <p:pic>
        <p:nvPicPr>
          <p:cNvPr id="12" name="Picture 11">
            <a:extLst>
              <a:ext uri="{FF2B5EF4-FFF2-40B4-BE49-F238E27FC236}">
                <a16:creationId xmlns:a16="http://schemas.microsoft.com/office/drawing/2014/main" id="{989FF1CF-7900-950E-A7A4-38296739DFF1}"/>
              </a:ext>
            </a:extLst>
          </p:cNvPr>
          <p:cNvPicPr>
            <a:picLocks noGrp="1" noRot="1" noChangeAspect="1" noMove="1" noResize="1" noEditPoints="1" noAdjustHandles="1" noChangeArrowheads="1" noChangeShapeType="1" noCrop="1"/>
          </p:cNvPicPr>
          <p:nvPr/>
        </p:nvPicPr>
        <p:blipFill>
          <a:blip r:embed="rId4"/>
          <a:stretch>
            <a:fillRect/>
          </a:stretch>
        </p:blipFill>
        <p:spPr>
          <a:xfrm>
            <a:off x="979825" y="3560793"/>
            <a:ext cx="5500223" cy="2354971"/>
          </a:xfrm>
          <a:prstGeom prst="rect">
            <a:avLst/>
          </a:prstGeom>
        </p:spPr>
      </p:pic>
      <p:pic>
        <p:nvPicPr>
          <p:cNvPr id="14" name="Picture 13">
            <a:extLst>
              <a:ext uri="{FF2B5EF4-FFF2-40B4-BE49-F238E27FC236}">
                <a16:creationId xmlns:a16="http://schemas.microsoft.com/office/drawing/2014/main" id="{C84DFEE4-A4C5-8D39-3F61-8B9724DCEEF8}"/>
              </a:ext>
            </a:extLst>
          </p:cNvPr>
          <p:cNvPicPr>
            <a:picLocks noGrp="1" noRot="1" noChangeAspect="1" noMove="1" noResize="1" noEditPoints="1" noAdjustHandles="1" noChangeArrowheads="1" noChangeShapeType="1" noCrop="1"/>
          </p:cNvPicPr>
          <p:nvPr/>
        </p:nvPicPr>
        <p:blipFill>
          <a:blip r:embed="rId5"/>
          <a:stretch>
            <a:fillRect/>
          </a:stretch>
        </p:blipFill>
        <p:spPr>
          <a:xfrm>
            <a:off x="3643503" y="1918552"/>
            <a:ext cx="2836545" cy="1056369"/>
          </a:xfrm>
          <a:prstGeom prst="rect">
            <a:avLst/>
          </a:prstGeom>
        </p:spPr>
      </p:pic>
      <p:sp>
        <p:nvSpPr>
          <p:cNvPr id="15" name="Google Shape;106;p14">
            <a:extLst>
              <a:ext uri="{FF2B5EF4-FFF2-40B4-BE49-F238E27FC236}">
                <a16:creationId xmlns:a16="http://schemas.microsoft.com/office/drawing/2014/main" id="{A6F5BA70-0ED0-78CB-3A22-FE56F283812D}"/>
              </a:ext>
            </a:extLst>
          </p:cNvPr>
          <p:cNvSpPr txBox="1">
            <a:spLocks noGrp="1" noRot="1" noMove="1" noResize="1" noEditPoints="1" noAdjustHandles="1" noChangeArrowheads="1" noChangeShapeType="1"/>
          </p:cNvSpPr>
          <p:nvPr/>
        </p:nvSpPr>
        <p:spPr>
          <a:xfrm>
            <a:off x="6851721" y="1372296"/>
            <a:ext cx="4667440" cy="2056704"/>
          </a:xfrm>
          <a:prstGeom prst="rect">
            <a:avLst/>
          </a:prstGeom>
          <a:noFill/>
          <a:ln>
            <a:noFill/>
          </a:ln>
        </p:spPr>
        <p:txBody>
          <a:bodyPr spcFirstLastPara="1" wrap="square" lIns="91425" tIns="91425" rIns="91425" bIns="91425" anchor="t" anchorCtr="0">
            <a:noAutofit/>
          </a:bodyPr>
          <a:lstStyle/>
          <a:p>
            <a:pPr algn="just"/>
            <a:r>
              <a:rPr lang="en-US" sz="1800" dirty="0"/>
              <a:t>The study uses the Mayo Clinic Primary Biliary Cirrhosis (PBC) dataset containing clinical records of liver cirrhosis patients. The dataset was divided into 80% training and 20% testing sets, and different sampling techniques were applied only to the training set to address class imbalance.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9" name="Google Shape;111;p15">
            <a:extLst>
              <a:ext uri="{FF2B5EF4-FFF2-40B4-BE49-F238E27FC236}">
                <a16:creationId xmlns:a16="http://schemas.microsoft.com/office/drawing/2014/main" id="{F756010B-B11E-1C6D-E034-E9B9F2459C42}"/>
              </a:ext>
            </a:extLst>
          </p:cNvPr>
          <p:cNvSpPr>
            <a:spLocks noGrp="1" noRot="1" noMove="1" noResize="1" noEditPoints="1" noAdjustHandles="1" noChangeArrowheads="1" noChangeShapeType="1"/>
          </p:cNvSpPr>
          <p:nvPr/>
        </p:nvSpPr>
        <p:spPr>
          <a:xfrm>
            <a:off x="827244" y="1180783"/>
            <a:ext cx="5653767" cy="48609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12" name="Google Shape;112;p15"/>
          <p:cNvSpPr txBox="1">
            <a:spLocks noGrp="1" noRot="1" noMove="1" noResize="1" noEditPoints="1" noAdjustHandles="1" noChangeArrowheads="1" noChangeShapeType="1"/>
          </p:cNvSpPr>
          <p:nvPr>
            <p:ph type="title"/>
          </p:nvPr>
        </p:nvSpPr>
        <p:spPr>
          <a:xfrm>
            <a:off x="838200" y="92565"/>
            <a:ext cx="10515600" cy="751500"/>
          </a:xfrm>
          <a:prstGeom prst="rect">
            <a:avLst/>
          </a:prstGeom>
          <a:noFill/>
          <a:ln>
            <a:noFill/>
          </a:ln>
        </p:spPr>
        <p:txBody>
          <a:bodyPr spcFirstLastPara="1" wrap="square" lIns="91425" tIns="45700" rIns="91425" bIns="45700" anchor="ctr" anchorCtr="0">
            <a:normAutofit/>
          </a:bodyPr>
          <a:lstStyle/>
          <a:p>
            <a:pPr lvl="0">
              <a:buSzPts val="4400"/>
            </a:pPr>
            <a:r>
              <a:rPr lang="en-US" sz="3200" b="1" dirty="0">
                <a:latin typeface="+mj-lt"/>
              </a:rPr>
              <a:t>Feature Analysis</a:t>
            </a:r>
            <a:endParaRPr sz="6500" b="1" dirty="0">
              <a:solidFill>
                <a:srgbClr val="FF0000"/>
              </a:solidFill>
              <a:latin typeface="+mj-lt"/>
            </a:endParaRPr>
          </a:p>
        </p:txBody>
      </p:sp>
      <p:sp>
        <p:nvSpPr>
          <p:cNvPr id="113" name="Google Shape;113;p15"/>
          <p:cNvSpPr txBox="1">
            <a:spLocks noGrp="1" noRot="1" noMove="1" noResize="1" noEditPoints="1" noAdjustHandles="1" noChangeArrowheads="1" noChangeShapeType="1"/>
          </p:cNvSpPr>
          <p:nvPr>
            <p:ph type="sldNum" idx="12"/>
          </p:nvPr>
        </p:nvSpPr>
        <p:spPr>
          <a:xfrm>
            <a:off x="5366236" y="6233258"/>
            <a:ext cx="5511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5</a:t>
            </a:fld>
            <a:endParaRPr/>
          </a:p>
        </p:txBody>
      </p:sp>
      <p:sp>
        <p:nvSpPr>
          <p:cNvPr id="13" name="Google Shape;106;p14">
            <a:extLst>
              <a:ext uri="{FF2B5EF4-FFF2-40B4-BE49-F238E27FC236}">
                <a16:creationId xmlns:a16="http://schemas.microsoft.com/office/drawing/2014/main" id="{8813278A-9BBD-1BFC-B569-01D83D6B34C6}"/>
              </a:ext>
            </a:extLst>
          </p:cNvPr>
          <p:cNvSpPr txBox="1">
            <a:spLocks noGrp="1" noRot="1" noMove="1" noResize="1" noEditPoints="1" noAdjustHandles="1" noChangeArrowheads="1" noChangeShapeType="1"/>
          </p:cNvSpPr>
          <p:nvPr/>
        </p:nvSpPr>
        <p:spPr>
          <a:xfrm>
            <a:off x="6531775" y="1386170"/>
            <a:ext cx="5063289" cy="2056704"/>
          </a:xfrm>
          <a:prstGeom prst="rect">
            <a:avLst/>
          </a:prstGeom>
          <a:noFill/>
          <a:ln>
            <a:noFill/>
          </a:ln>
        </p:spPr>
        <p:txBody>
          <a:bodyPr spcFirstLastPara="1" wrap="square" lIns="91425" tIns="91425" rIns="91425" bIns="91425" anchor="t" anchorCtr="0">
            <a:noAutofit/>
          </a:bodyPr>
          <a:lstStyle/>
          <a:p>
            <a:pPr marL="101600" lvl="0" algn="just">
              <a:buClr>
                <a:schemeClr val="dk1"/>
              </a:buClr>
              <a:buSzPts val="2000"/>
            </a:pPr>
            <a:r>
              <a:rPr lang="en-US" sz="1800" dirty="0"/>
              <a:t>The dataset consists of binary, multiclass, and continuous clinical variables describing patient characteristics, laboratory measurements, and disease conditions. These categorized features provide meaningful clinical information for mortality prediction.</a:t>
            </a:r>
            <a:endParaRPr sz="1800" b="1" dirty="0">
              <a:solidFill>
                <a:schemeClr val="dk1"/>
              </a:solidFill>
              <a:latin typeface="Calibri"/>
              <a:ea typeface="Calibri"/>
              <a:cs typeface="Calibri"/>
              <a:sym typeface="Calibri"/>
            </a:endParaRPr>
          </a:p>
        </p:txBody>
      </p:sp>
      <p:sp>
        <p:nvSpPr>
          <p:cNvPr id="14" name="Google Shape;106;p14">
            <a:extLst>
              <a:ext uri="{FF2B5EF4-FFF2-40B4-BE49-F238E27FC236}">
                <a16:creationId xmlns:a16="http://schemas.microsoft.com/office/drawing/2014/main" id="{F9346944-5AEC-2045-0C96-58ABD73C3869}"/>
              </a:ext>
            </a:extLst>
          </p:cNvPr>
          <p:cNvSpPr txBox="1">
            <a:spLocks noGrp="1" noRot="1" noMove="1" noResize="1" noEditPoints="1" noAdjustHandles="1" noChangeArrowheads="1" noChangeShapeType="1"/>
          </p:cNvSpPr>
          <p:nvPr/>
        </p:nvSpPr>
        <p:spPr>
          <a:xfrm>
            <a:off x="6660507" y="3300337"/>
            <a:ext cx="5242736" cy="2083714"/>
          </a:xfrm>
          <a:prstGeom prst="rect">
            <a:avLst/>
          </a:prstGeom>
          <a:noFill/>
          <a:ln>
            <a:noFill/>
          </a:ln>
        </p:spPr>
        <p:txBody>
          <a:bodyPr spcFirstLastPara="1" wrap="square" lIns="91425" tIns="91425" rIns="91425" bIns="91425" anchor="t" anchorCtr="0">
            <a:noAutofit/>
          </a:bodyPr>
          <a:lstStyle/>
          <a:p>
            <a:r>
              <a:rPr lang="en-US" sz="1800" dirty="0">
                <a:latin typeface="Calibri" panose="020F0502020204030204" pitchFamily="34" charset="0"/>
                <a:ea typeface="Calibri" panose="020F0502020204030204" pitchFamily="34" charset="0"/>
                <a:cs typeface="Calibri" panose="020F0502020204030204" pitchFamily="34" charset="0"/>
              </a:rPr>
              <a:t>➜ The dataset contains </a:t>
            </a:r>
            <a:r>
              <a:rPr lang="en-US" sz="1800" b="1" dirty="0">
                <a:latin typeface="Calibri" panose="020F0502020204030204" pitchFamily="34" charset="0"/>
                <a:ea typeface="Calibri" panose="020F0502020204030204" pitchFamily="34" charset="0"/>
                <a:cs typeface="Calibri" panose="020F0502020204030204" pitchFamily="34" charset="0"/>
              </a:rPr>
              <a:t>5 binary, 3 multiclass, and 12 continuous features.</a:t>
            </a:r>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 Clinical variables include demographic, laboratory, and disease-related information</a:t>
            </a:r>
            <a:r>
              <a:rPr lang="en-US" sz="1800" dirty="0"/>
              <a:t>.</a:t>
            </a:r>
          </a:p>
          <a:p>
            <a:r>
              <a:rPr lang="en-US" sz="1800" dirty="0">
                <a:latin typeface="Calibri" panose="020F0502020204030204" pitchFamily="34" charset="0"/>
                <a:ea typeface="Calibri" panose="020F0502020204030204" pitchFamily="34" charset="0"/>
                <a:cs typeface="Calibri" panose="020F0502020204030204" pitchFamily="34" charset="0"/>
              </a:rPr>
              <a:t>➜ These categorized features are used as input for model training and prediction.</a:t>
            </a:r>
          </a:p>
        </p:txBody>
      </p:sp>
      <p:pic>
        <p:nvPicPr>
          <p:cNvPr id="16" name="Picture 15">
            <a:extLst>
              <a:ext uri="{FF2B5EF4-FFF2-40B4-BE49-F238E27FC236}">
                <a16:creationId xmlns:a16="http://schemas.microsoft.com/office/drawing/2014/main" id="{39D23953-7AB1-4A99-4B23-166A503D858D}"/>
              </a:ext>
            </a:extLst>
          </p:cNvPr>
          <p:cNvPicPr>
            <a:picLocks noGrp="1" noRot="1" noChangeAspect="1" noMove="1" noResize="1" noEditPoints="1" noAdjustHandles="1" noChangeArrowheads="1" noChangeShapeType="1" noCrop="1"/>
          </p:cNvPicPr>
          <p:nvPr/>
        </p:nvPicPr>
        <p:blipFill>
          <a:blip r:embed="rId3"/>
          <a:stretch>
            <a:fillRect/>
          </a:stretch>
        </p:blipFill>
        <p:spPr>
          <a:xfrm>
            <a:off x="909964" y="1522670"/>
            <a:ext cx="5480019" cy="42395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7"/>
          <p:cNvSpPr txBox="1">
            <a:spLocks noGrp="1" noRot="1" noMove="1" noResize="1" noEditPoints="1" noAdjustHandles="1" noChangeArrowheads="1" noChangeShapeType="1"/>
          </p:cNvSpPr>
          <p:nvPr>
            <p:ph type="title"/>
          </p:nvPr>
        </p:nvSpPr>
        <p:spPr>
          <a:xfrm>
            <a:off x="838200" y="92565"/>
            <a:ext cx="10515600" cy="751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200" b="1" dirty="0">
                <a:latin typeface="Arial"/>
                <a:ea typeface="Arial"/>
                <a:cs typeface="Arial"/>
                <a:sym typeface="Arial"/>
              </a:rPr>
              <a:t>Workflow Overview</a:t>
            </a:r>
            <a:endParaRPr sz="6500" dirty="0"/>
          </a:p>
        </p:txBody>
      </p:sp>
      <p:sp>
        <p:nvSpPr>
          <p:cNvPr id="139" name="Google Shape;139;p17"/>
          <p:cNvSpPr txBox="1">
            <a:spLocks noGrp="1" noRot="1" noMove="1" noResize="1" noEditPoints="1" noAdjustHandles="1" noChangeArrowheads="1" noChangeShapeType="1"/>
          </p:cNvSpPr>
          <p:nvPr>
            <p:ph type="sldNum" idx="12"/>
          </p:nvPr>
        </p:nvSpPr>
        <p:spPr>
          <a:xfrm>
            <a:off x="5366236" y="6233258"/>
            <a:ext cx="5511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6</a:t>
            </a:fld>
            <a:endParaRPr/>
          </a:p>
        </p:txBody>
      </p:sp>
      <p:sp>
        <p:nvSpPr>
          <p:cNvPr id="141" name="Google Shape;141;p17"/>
          <p:cNvSpPr txBox="1">
            <a:spLocks noGrp="1" noRot="1" noMove="1" noResize="1" noEditPoints="1" noAdjustHandles="1" noChangeArrowheads="1" noChangeShapeType="1"/>
          </p:cNvSpPr>
          <p:nvPr/>
        </p:nvSpPr>
        <p:spPr>
          <a:xfrm>
            <a:off x="8003650" y="1293817"/>
            <a:ext cx="3492600" cy="4878900"/>
          </a:xfrm>
          <a:prstGeom prst="rect">
            <a:avLst/>
          </a:prstGeom>
          <a:noFill/>
          <a:ln>
            <a:noFill/>
          </a:ln>
        </p:spPr>
        <p:txBody>
          <a:bodyPr spcFirstLastPara="1" wrap="square" lIns="91425" tIns="91425" rIns="91425" bIns="91425" anchor="t" anchorCtr="0">
            <a:noAutofit/>
          </a:bodyPr>
          <a:lstStyle/>
          <a:p>
            <a:pPr marL="228600" indent="-228600" algn="just">
              <a:buAutoNum type="arabicPeriod"/>
            </a:pPr>
            <a:r>
              <a:rPr lang="en-US" sz="1200" b="1" dirty="0"/>
              <a:t>First, the Mayo Clinic PBC dataset is preprocessed by removing liver transplant cases, handling missing values, and applying label encoding. The dataset is then divided into 80% training and 20% testing sets for model development and evaluation.</a:t>
            </a:r>
          </a:p>
          <a:p>
            <a:pPr marL="228600" indent="-228600" algn="just">
              <a:buAutoNum type="arabicPeriod"/>
            </a:pPr>
            <a:endParaRPr lang="en-US" sz="1200" b="1" dirty="0"/>
          </a:p>
          <a:p>
            <a:pPr marL="228600" indent="-228600" algn="just">
              <a:buAutoNum type="arabicPeriod"/>
            </a:pPr>
            <a:r>
              <a:rPr lang="en-US" sz="1200" b="1" dirty="0"/>
              <a:t> Different sampling techniques (RAW, TOMEK, TVAE, ADASYN, and SMOTENC) are applied only to the training set to reduce class imbalance. Multiple machine learning models are trained and compared, where Gradient Boosting with SMOTENC achieved the best overall performance.</a:t>
            </a:r>
          </a:p>
          <a:p>
            <a:pPr marL="228600" indent="-228600" algn="just">
              <a:buAutoNum type="arabicPeriod"/>
            </a:pPr>
            <a:endParaRPr lang="en-US" sz="1200" b="1" dirty="0"/>
          </a:p>
          <a:p>
            <a:pPr marL="228600" indent="-228600" algn="just">
              <a:buAutoNum type="arabicPeriod"/>
            </a:pPr>
            <a:r>
              <a:rPr lang="en-US" sz="1200" b="1" dirty="0"/>
              <a:t>Finally, the selected model is evaluated using Accuracy and Recall, and SHAP Explainability is applied to identify important clinical features and interpret the model's predictions, making the results more transparent and clinically meaningful.</a:t>
            </a:r>
          </a:p>
        </p:txBody>
      </p:sp>
      <p:pic>
        <p:nvPicPr>
          <p:cNvPr id="3" name="Picture 2">
            <a:extLst>
              <a:ext uri="{FF2B5EF4-FFF2-40B4-BE49-F238E27FC236}">
                <a16:creationId xmlns:a16="http://schemas.microsoft.com/office/drawing/2014/main" id="{4033BCAE-5834-C314-78B2-9D00B361C889}"/>
              </a:ext>
            </a:extLst>
          </p:cNvPr>
          <p:cNvPicPr>
            <a:picLocks noGrp="1" noRot="1" noChangeAspect="1" noMove="1" noResize="1" noEditPoints="1" noAdjustHandles="1" noChangeArrowheads="1" noChangeShapeType="1" noCrop="1"/>
          </p:cNvPicPr>
          <p:nvPr/>
        </p:nvPicPr>
        <p:blipFill>
          <a:blip r:embed="rId3"/>
          <a:stretch>
            <a:fillRect/>
          </a:stretch>
        </p:blipFill>
        <p:spPr>
          <a:xfrm>
            <a:off x="838200" y="1293817"/>
            <a:ext cx="7165450" cy="449217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9"/>
          <p:cNvSpPr txBox="1">
            <a:spLocks noGrp="1" noRot="1" noMove="1" noResize="1" noEditPoints="1" noAdjustHandles="1" noChangeArrowheads="1" noChangeShapeType="1"/>
          </p:cNvSpPr>
          <p:nvPr>
            <p:ph type="title"/>
          </p:nvPr>
        </p:nvSpPr>
        <p:spPr>
          <a:xfrm>
            <a:off x="838200" y="92565"/>
            <a:ext cx="10515600" cy="751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200" b="1" dirty="0">
                <a:latin typeface="Arial"/>
                <a:ea typeface="Arial"/>
                <a:cs typeface="Arial"/>
                <a:sym typeface="Arial"/>
              </a:rPr>
              <a:t>Result Analysis</a:t>
            </a:r>
            <a:endParaRPr sz="6500" dirty="0"/>
          </a:p>
        </p:txBody>
      </p:sp>
      <p:sp>
        <p:nvSpPr>
          <p:cNvPr id="155" name="Google Shape;155;p19"/>
          <p:cNvSpPr txBox="1">
            <a:spLocks noGrp="1" noRot="1" noMove="1" noResize="1" noEditPoints="1" noAdjustHandles="1" noChangeArrowheads="1" noChangeShapeType="1"/>
          </p:cNvSpPr>
          <p:nvPr>
            <p:ph type="sldNum" idx="12"/>
          </p:nvPr>
        </p:nvSpPr>
        <p:spPr>
          <a:xfrm>
            <a:off x="5366236" y="6233258"/>
            <a:ext cx="5511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7</a:t>
            </a:fld>
            <a:endParaRPr/>
          </a:p>
        </p:txBody>
      </p:sp>
      <p:sp>
        <p:nvSpPr>
          <p:cNvPr id="157" name="Google Shape;157;p19"/>
          <p:cNvSpPr txBox="1">
            <a:spLocks noGrp="1" noRot="1" noMove="1" noResize="1" noEditPoints="1" noAdjustHandles="1" noChangeArrowheads="1" noChangeShapeType="1"/>
          </p:cNvSpPr>
          <p:nvPr/>
        </p:nvSpPr>
        <p:spPr>
          <a:xfrm>
            <a:off x="914400" y="990600"/>
            <a:ext cx="10299600" cy="992100"/>
          </a:xfrm>
          <a:prstGeom prst="rect">
            <a:avLst/>
          </a:prstGeom>
          <a:noFill/>
          <a:ln>
            <a:noFill/>
          </a:ln>
        </p:spPr>
        <p:txBody>
          <a:bodyPr spcFirstLastPara="1" wrap="square" lIns="91425" tIns="91425" rIns="91425" bIns="91425" anchor="t" anchorCtr="0">
            <a:noAutofit/>
          </a:bodyPr>
          <a:lstStyle/>
          <a:p>
            <a:pPr lvl="0" algn="ctr"/>
            <a:r>
              <a:rPr lang="en-US" sz="1600" b="1" dirty="0">
                <a:solidFill>
                  <a:schemeClr val="dk1"/>
                </a:solidFill>
                <a:latin typeface="Calibri"/>
                <a:ea typeface="Calibri"/>
                <a:cs typeface="Calibri"/>
                <a:sym typeface="Calibri"/>
              </a:rPr>
              <a:t>TABLE </a:t>
            </a:r>
            <a:r>
              <a:rPr lang="en-US" sz="1600" dirty="0"/>
              <a:t>I</a:t>
            </a:r>
            <a:endParaRPr sz="1600" b="1" dirty="0">
              <a:solidFill>
                <a:schemeClr val="dk1"/>
              </a:solidFill>
              <a:latin typeface="Calibri"/>
              <a:ea typeface="Calibri"/>
              <a:cs typeface="Calibri"/>
              <a:sym typeface="Calibri"/>
            </a:endParaRPr>
          </a:p>
          <a:p>
            <a:pPr lvl="0" algn="ctr"/>
            <a:r>
              <a:rPr lang="en-US" sz="1200" b="1" dirty="0"/>
              <a:t>CLASS-WISE PERFORMANCE OF DIFFERENT MACHINE LEARNING MODELS USING THEIR BEST-PERFORMING SAMPLING TECHNIQUES ON </a:t>
            </a:r>
            <a:r>
              <a:rPr lang="en-US" sz="1200" b="1" dirty="0">
                <a:solidFill>
                  <a:schemeClr val="accent6"/>
                </a:solidFill>
              </a:rPr>
              <a:t>THE MAYO CLINIC PBC DATASET</a:t>
            </a:r>
            <a:r>
              <a:rPr lang="en-US" sz="1200" b="1" dirty="0"/>
              <a:t>. THE BEST PERFORMANCE FOR EACH METRIC IS HIGHLIGHTED IN BOLD.</a:t>
            </a:r>
            <a:endParaRPr sz="13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58" name="Google Shape;158;p19"/>
          <p:cNvSpPr txBox="1">
            <a:spLocks noGrp="1" noRot="1" noMove="1" noResize="1" noEditPoints="1" noAdjustHandles="1" noChangeArrowheads="1" noChangeShapeType="1"/>
          </p:cNvSpPr>
          <p:nvPr/>
        </p:nvSpPr>
        <p:spPr>
          <a:xfrm>
            <a:off x="1104899" y="5165725"/>
            <a:ext cx="9984867" cy="546000"/>
          </a:xfrm>
          <a:prstGeom prst="rect">
            <a:avLst/>
          </a:prstGeom>
          <a:noFill/>
          <a:ln>
            <a:noFill/>
          </a:ln>
        </p:spPr>
        <p:txBody>
          <a:bodyPr spcFirstLastPara="1" wrap="square" lIns="91425" tIns="91425" rIns="91425" bIns="91425" anchor="t" anchorCtr="0">
            <a:noAutofit/>
          </a:bodyPr>
          <a:lstStyle/>
          <a:p>
            <a:r>
              <a:rPr lang="en-US" sz="1200" b="1" dirty="0">
                <a:solidFill>
                  <a:schemeClr val="accent1">
                    <a:lumMod val="75000"/>
                  </a:schemeClr>
                </a:solidFill>
              </a:rPr>
              <a:t>Table I </a:t>
            </a:r>
            <a:r>
              <a:rPr lang="en-US" sz="1200" b="1" dirty="0"/>
              <a:t>presents the best-performing result for each machine learning model using its optimal sampling technique. Among all model–sampling combinations, Gradient Boosting with SMOTENC achieved the best overall performance, obtaining 91% Accuracy, 91% Death Recall, 91% Censored Recall, and 91% Balanced Recall.</a:t>
            </a:r>
            <a:endParaRPr lang="en-US" sz="1200" dirty="0"/>
          </a:p>
        </p:txBody>
      </p:sp>
      <p:pic>
        <p:nvPicPr>
          <p:cNvPr id="6" name="Picture 5">
            <a:extLst>
              <a:ext uri="{FF2B5EF4-FFF2-40B4-BE49-F238E27FC236}">
                <a16:creationId xmlns:a16="http://schemas.microsoft.com/office/drawing/2014/main" id="{37AE534F-6CD9-62AA-32E2-57F469A6CC74}"/>
              </a:ext>
            </a:extLst>
          </p:cNvPr>
          <p:cNvPicPr>
            <a:picLocks noGrp="1" noRot="1" noChangeAspect="1" noMove="1" noResize="1" noEditPoints="1" noAdjustHandles="1" noChangeArrowheads="1" noChangeShapeType="1" noCrop="1"/>
          </p:cNvPicPr>
          <p:nvPr/>
        </p:nvPicPr>
        <p:blipFill>
          <a:blip r:embed="rId3"/>
          <a:stretch>
            <a:fillRect/>
          </a:stretch>
        </p:blipFill>
        <p:spPr>
          <a:xfrm>
            <a:off x="1288542" y="1935558"/>
            <a:ext cx="9715500" cy="3108625"/>
          </a:xfrm>
          <a:prstGeom prst="rect">
            <a:avLst/>
          </a:prstGeom>
        </p:spPr>
      </p:pic>
      <p:sp>
        <p:nvSpPr>
          <p:cNvPr id="159" name="Google Shape;159;p19"/>
          <p:cNvSpPr>
            <a:spLocks noGrp="1" noRot="1" noMove="1" noResize="1" noEditPoints="1" noAdjustHandles="1" noChangeArrowheads="1" noChangeShapeType="1"/>
          </p:cNvSpPr>
          <p:nvPr/>
        </p:nvSpPr>
        <p:spPr>
          <a:xfrm>
            <a:off x="989076" y="4827024"/>
            <a:ext cx="342900" cy="241200"/>
          </a:xfrm>
          <a:prstGeom prst="rightArrow">
            <a:avLst>
              <a:gd name="adj1" fmla="val 50000"/>
              <a:gd name="adj2" fmla="val 50000"/>
            </a:avLst>
          </a:prstGeom>
          <a:solidFill>
            <a:srgbClr val="6AA84F"/>
          </a:solidFill>
          <a:ln w="9525"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2"/>
          <p:cNvSpPr txBox="1">
            <a:spLocks noGrp="1" noRot="1" noMove="1" noResize="1" noEditPoints="1" noAdjustHandles="1" noChangeArrowheads="1" noChangeShapeType="1"/>
          </p:cNvSpPr>
          <p:nvPr>
            <p:ph type="title"/>
          </p:nvPr>
        </p:nvSpPr>
        <p:spPr>
          <a:xfrm>
            <a:off x="838200" y="92565"/>
            <a:ext cx="10515600" cy="7515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sz="3200" b="1" dirty="0">
                <a:latin typeface="Arial"/>
                <a:ea typeface="Arial"/>
                <a:cs typeface="Arial"/>
                <a:sym typeface="Arial"/>
              </a:rPr>
              <a:t>Result Analysis</a:t>
            </a:r>
            <a:endParaRPr sz="3200" b="1" dirty="0">
              <a:latin typeface="Arial"/>
              <a:ea typeface="Arial"/>
              <a:cs typeface="Arial"/>
              <a:sym typeface="Arial"/>
            </a:endParaRPr>
          </a:p>
        </p:txBody>
      </p:sp>
      <p:sp>
        <p:nvSpPr>
          <p:cNvPr id="189" name="Google Shape;189;p22"/>
          <p:cNvSpPr txBox="1">
            <a:spLocks noGrp="1" noRot="1" noMove="1" noResize="1" noEditPoints="1" noAdjustHandles="1" noChangeArrowheads="1" noChangeShapeType="1"/>
          </p:cNvSpPr>
          <p:nvPr>
            <p:ph type="sldNum" idx="12"/>
          </p:nvPr>
        </p:nvSpPr>
        <p:spPr>
          <a:xfrm>
            <a:off x="5366236" y="6233258"/>
            <a:ext cx="5511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8</a:t>
            </a:fld>
            <a:endParaRPr/>
          </a:p>
        </p:txBody>
      </p:sp>
      <p:pic>
        <p:nvPicPr>
          <p:cNvPr id="3" name="Picture 2">
            <a:extLst>
              <a:ext uri="{FF2B5EF4-FFF2-40B4-BE49-F238E27FC236}">
                <a16:creationId xmlns:a16="http://schemas.microsoft.com/office/drawing/2014/main" id="{DB04F1CB-91E6-1ACD-2ABF-45F528681674}"/>
              </a:ext>
            </a:extLst>
          </p:cNvPr>
          <p:cNvPicPr>
            <a:picLocks noGrp="1" noRot="1" noChangeAspect="1" noMove="1" noResize="1" noEditPoints="1" noAdjustHandles="1" noChangeArrowheads="1" noChangeShapeType="1" noCrop="1"/>
          </p:cNvPicPr>
          <p:nvPr/>
        </p:nvPicPr>
        <p:blipFill>
          <a:blip r:embed="rId3"/>
          <a:stretch>
            <a:fillRect/>
          </a:stretch>
        </p:blipFill>
        <p:spPr>
          <a:xfrm>
            <a:off x="1294047" y="1059588"/>
            <a:ext cx="9603906" cy="4738824"/>
          </a:xfrm>
          <a:prstGeom prst="rect">
            <a:avLst/>
          </a:prstGeom>
        </p:spPr>
      </p:pic>
      <p:sp>
        <p:nvSpPr>
          <p:cNvPr id="192" name="Google Shape;192;p22"/>
          <p:cNvSpPr>
            <a:spLocks noGrp="1" noRot="1" noMove="1" noResize="1" noEditPoints="1" noAdjustHandles="1" noChangeArrowheads="1" noChangeShapeType="1"/>
          </p:cNvSpPr>
          <p:nvPr/>
        </p:nvSpPr>
        <p:spPr>
          <a:xfrm rot="19611072">
            <a:off x="8310071" y="5501672"/>
            <a:ext cx="678398" cy="447174"/>
          </a:xfrm>
          <a:prstGeom prst="rightArrow">
            <a:avLst>
              <a:gd name="adj1" fmla="val 50000"/>
              <a:gd name="adj2" fmla="val 50000"/>
            </a:avLst>
          </a:prstGeom>
          <a:solidFill>
            <a:srgbClr val="6AA84F"/>
          </a:solidFill>
          <a:ln w="9525"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CDD17F-BF74-66EE-1F39-153101970726}"/>
              </a:ext>
            </a:extLst>
          </p:cNvPr>
          <p:cNvSpPr>
            <a:spLocks noGrp="1" noRot="1" noMove="1" noResize="1" noEditPoints="1" noAdjustHandles="1" noChangeArrowheads="1" noChangeShapeType="1"/>
          </p:cNvSpPr>
          <p:nvPr>
            <p:ph type="sldNum" idx="12"/>
          </p:nvPr>
        </p:nvSpPr>
        <p:spPr/>
        <p:txBody>
          <a:bodyPr/>
          <a:lstStyle/>
          <a:p>
            <a:pPr marL="0" lvl="0" indent="0" algn="l" rtl="0">
              <a:spcBef>
                <a:spcPts val="0"/>
              </a:spcBef>
              <a:spcAft>
                <a:spcPts val="0"/>
              </a:spcAft>
              <a:buNone/>
            </a:pPr>
            <a:fld id="{00000000-1234-1234-1234-123412341234}" type="slidenum">
              <a:rPr lang="en-US" smtClean="0"/>
              <a:t>9</a:t>
            </a:fld>
            <a:endParaRPr lang="en-US"/>
          </a:p>
        </p:txBody>
      </p:sp>
      <p:pic>
        <p:nvPicPr>
          <p:cNvPr id="4" name="Picture 3">
            <a:extLst>
              <a:ext uri="{FF2B5EF4-FFF2-40B4-BE49-F238E27FC236}">
                <a16:creationId xmlns:a16="http://schemas.microsoft.com/office/drawing/2014/main" id="{F0A21BC8-105B-A8F1-A6C9-313A83650967}"/>
              </a:ext>
            </a:extLst>
          </p:cNvPr>
          <p:cNvPicPr>
            <a:picLocks noGrp="1" noRot="1" noChangeAspect="1" noMove="1" noResize="1" noEditPoints="1" noAdjustHandles="1" noChangeArrowheads="1" noChangeShapeType="1" noCrop="1"/>
          </p:cNvPicPr>
          <p:nvPr/>
        </p:nvPicPr>
        <p:blipFill>
          <a:blip r:embed="rId2"/>
          <a:stretch>
            <a:fillRect/>
          </a:stretch>
        </p:blipFill>
        <p:spPr>
          <a:xfrm>
            <a:off x="1158240" y="1084511"/>
            <a:ext cx="4575048" cy="3145298"/>
          </a:xfrm>
          <a:prstGeom prst="rect">
            <a:avLst/>
          </a:prstGeom>
        </p:spPr>
      </p:pic>
      <p:pic>
        <p:nvPicPr>
          <p:cNvPr id="6" name="Picture 5">
            <a:extLst>
              <a:ext uri="{FF2B5EF4-FFF2-40B4-BE49-F238E27FC236}">
                <a16:creationId xmlns:a16="http://schemas.microsoft.com/office/drawing/2014/main" id="{10879271-FEC4-61E6-6B36-A15BD97C98BD}"/>
              </a:ext>
            </a:extLst>
          </p:cNvPr>
          <p:cNvPicPr>
            <a:picLocks noGrp="1" noRot="1" noChangeAspect="1" noMove="1" noResize="1" noEditPoints="1" noAdjustHandles="1" noChangeArrowheads="1" noChangeShapeType="1" noCrop="1"/>
          </p:cNvPicPr>
          <p:nvPr/>
        </p:nvPicPr>
        <p:blipFill>
          <a:blip r:embed="rId3"/>
          <a:stretch>
            <a:fillRect/>
          </a:stretch>
        </p:blipFill>
        <p:spPr>
          <a:xfrm>
            <a:off x="6532923" y="1055029"/>
            <a:ext cx="4500837" cy="3098490"/>
          </a:xfrm>
          <a:prstGeom prst="rect">
            <a:avLst/>
          </a:prstGeom>
        </p:spPr>
      </p:pic>
      <p:sp>
        <p:nvSpPr>
          <p:cNvPr id="7" name="Google Shape;92;p13">
            <a:extLst>
              <a:ext uri="{FF2B5EF4-FFF2-40B4-BE49-F238E27FC236}">
                <a16:creationId xmlns:a16="http://schemas.microsoft.com/office/drawing/2014/main" id="{2B873613-EA23-6C47-BA4F-F2FE61E62746}"/>
              </a:ext>
            </a:extLst>
          </p:cNvPr>
          <p:cNvSpPr txBox="1">
            <a:spLocks noGrp="1" noRot="1" noMove="1" noResize="1" noEditPoints="1" noAdjustHandles="1" noChangeArrowheads="1" noChangeShapeType="1"/>
          </p:cNvSpPr>
          <p:nvPr/>
        </p:nvSpPr>
        <p:spPr>
          <a:xfrm>
            <a:off x="1388121" y="4440773"/>
            <a:ext cx="9058200" cy="1590824"/>
          </a:xfrm>
          <a:prstGeom prst="rect">
            <a:avLst/>
          </a:prstGeom>
          <a:noFill/>
          <a:ln>
            <a:noFill/>
          </a:ln>
        </p:spPr>
        <p:txBody>
          <a:bodyPr spcFirstLastPara="1" wrap="square" lIns="91425" tIns="91425" rIns="91425" bIns="91425" anchor="t" anchorCtr="0">
            <a:noAutofit/>
          </a:bodyPr>
          <a:lstStyle/>
          <a:p>
            <a:pPr>
              <a:lnSpc>
                <a:spcPct val="150000"/>
              </a:lnSpc>
              <a:spcAft>
                <a:spcPts val="130"/>
              </a:spcAft>
            </a:pPr>
            <a:r>
              <a:rPr lang="en-US" sz="2000" b="1" dirty="0"/>
              <a:t>➜ N_Days is the most influential feature.</a:t>
            </a:r>
            <a:br>
              <a:rPr lang="en-US" sz="2000" b="1" dirty="0"/>
            </a:br>
            <a:r>
              <a:rPr lang="en-US" sz="2000" b="1" dirty="0"/>
              <a:t>➜ Prothrombin and Age strongly contribute.</a:t>
            </a:r>
            <a:br>
              <a:rPr lang="en-US" sz="2000" b="1" dirty="0"/>
            </a:br>
            <a:r>
              <a:rPr lang="en-US" sz="2000" b="1" dirty="0"/>
              <a:t>➜ SHAP improves model interpretability.</a:t>
            </a:r>
            <a:br>
              <a:rPr lang="en-US" sz="2000" b="1" dirty="0"/>
            </a:br>
            <a:endParaRPr lang="en-US" sz="2000" b="1" dirty="0"/>
          </a:p>
        </p:txBody>
      </p:sp>
      <p:sp>
        <p:nvSpPr>
          <p:cNvPr id="8" name="Google Shape;188;p22">
            <a:extLst>
              <a:ext uri="{FF2B5EF4-FFF2-40B4-BE49-F238E27FC236}">
                <a16:creationId xmlns:a16="http://schemas.microsoft.com/office/drawing/2014/main" id="{8A90E952-2FD5-73DD-59A7-20FF37E674AF}"/>
              </a:ext>
            </a:extLst>
          </p:cNvPr>
          <p:cNvSpPr txBox="1">
            <a:spLocks noGrp="1" noRot="1" noMove="1" noResize="1" noEditPoints="1" noAdjustHandles="1" noChangeArrowheads="1" noChangeShapeType="1"/>
          </p:cNvSpPr>
          <p:nvPr/>
        </p:nvSpPr>
        <p:spPr>
          <a:xfrm>
            <a:off x="838200" y="92565"/>
            <a:ext cx="10515600" cy="7515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4400"/>
              <a:buFont typeface="Calibri"/>
              <a:buNone/>
            </a:pPr>
            <a:r>
              <a:rPr lang="en-US" sz="3200" b="1" dirty="0"/>
              <a:t>Model Explainability Using SHAP</a:t>
            </a:r>
          </a:p>
        </p:txBody>
      </p:sp>
      <p:sp>
        <p:nvSpPr>
          <p:cNvPr id="9" name="Google Shape;91;p13">
            <a:extLst>
              <a:ext uri="{FF2B5EF4-FFF2-40B4-BE49-F238E27FC236}">
                <a16:creationId xmlns:a16="http://schemas.microsoft.com/office/drawing/2014/main" id="{BD36FBDC-8AB0-2641-47E5-7CD746780034}"/>
              </a:ext>
            </a:extLst>
          </p:cNvPr>
          <p:cNvSpPr txBox="1">
            <a:spLocks noGrp="1" noRot="1" noMove="1" noResize="1" noEditPoints="1" noAdjustHandles="1" noChangeArrowheads="1" noChangeShapeType="1"/>
          </p:cNvSpPr>
          <p:nvPr/>
        </p:nvSpPr>
        <p:spPr>
          <a:xfrm>
            <a:off x="8511944" y="4183001"/>
            <a:ext cx="2099911" cy="441900"/>
          </a:xfrm>
          <a:prstGeom prst="rect">
            <a:avLst/>
          </a:prstGeom>
          <a:noFill/>
          <a:ln>
            <a:noFill/>
          </a:ln>
        </p:spPr>
        <p:txBody>
          <a:bodyPr spcFirstLastPara="1" wrap="square" lIns="91425" tIns="91425" rIns="91425" bIns="91425" anchor="t" anchorCtr="0">
            <a:noAutofit/>
          </a:bodyPr>
          <a:lstStyle/>
          <a:p>
            <a:pPr lvl="0"/>
            <a:r>
              <a:rPr lang="en-US" sz="1000" dirty="0"/>
              <a:t>Fig: Feature Importance</a:t>
            </a:r>
            <a:endParaRPr sz="1000" dirty="0">
              <a:solidFill>
                <a:schemeClr val="dk1"/>
              </a:solidFill>
              <a:latin typeface="Calibri"/>
              <a:ea typeface="Calibri"/>
              <a:cs typeface="Calibri"/>
              <a:sym typeface="Calibri"/>
            </a:endParaRPr>
          </a:p>
        </p:txBody>
      </p:sp>
      <p:sp>
        <p:nvSpPr>
          <p:cNvPr id="11" name="Google Shape;91;p13">
            <a:extLst>
              <a:ext uri="{FF2B5EF4-FFF2-40B4-BE49-F238E27FC236}">
                <a16:creationId xmlns:a16="http://schemas.microsoft.com/office/drawing/2014/main" id="{2B108B7C-8905-FD0D-B07E-692F44D5E1C8}"/>
              </a:ext>
            </a:extLst>
          </p:cNvPr>
          <p:cNvSpPr txBox="1">
            <a:spLocks noGrp="1" noRot="1" noMove="1" noResize="1" noEditPoints="1" noAdjustHandles="1" noChangeArrowheads="1" noChangeShapeType="1"/>
          </p:cNvSpPr>
          <p:nvPr/>
        </p:nvSpPr>
        <p:spPr>
          <a:xfrm>
            <a:off x="2517341" y="4183001"/>
            <a:ext cx="2099911" cy="441900"/>
          </a:xfrm>
          <a:prstGeom prst="rect">
            <a:avLst/>
          </a:prstGeom>
          <a:noFill/>
          <a:ln>
            <a:noFill/>
          </a:ln>
        </p:spPr>
        <p:txBody>
          <a:bodyPr spcFirstLastPara="1" wrap="square" lIns="91425" tIns="91425" rIns="91425" bIns="91425" anchor="t" anchorCtr="0">
            <a:noAutofit/>
          </a:bodyPr>
          <a:lstStyle/>
          <a:p>
            <a:pPr lvl="0"/>
            <a:r>
              <a:rPr lang="en-US" sz="1000" dirty="0"/>
              <a:t>Fig: SHAP Summary Plot</a:t>
            </a: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92335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5"/>
          <p:cNvSpPr txBox="1">
            <a:spLocks noGrp="1" noRot="1" noMove="1" noResize="1" noEditPoints="1" noAdjustHandles="1" noChangeArrowheads="1" noChangeShapeType="1"/>
          </p:cNvSpPr>
          <p:nvPr>
            <p:ph type="title"/>
          </p:nvPr>
        </p:nvSpPr>
        <p:spPr>
          <a:xfrm>
            <a:off x="838200" y="92565"/>
            <a:ext cx="10515600" cy="751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200" b="1">
                <a:latin typeface="Arial"/>
                <a:ea typeface="Arial"/>
                <a:cs typeface="Arial"/>
                <a:sym typeface="Arial"/>
              </a:rPr>
              <a:t>Contributions</a:t>
            </a:r>
            <a:endParaRPr sz="6500"/>
          </a:p>
        </p:txBody>
      </p:sp>
      <p:sp>
        <p:nvSpPr>
          <p:cNvPr id="215" name="Google Shape;215;p25"/>
          <p:cNvSpPr txBox="1">
            <a:spLocks noGrp="1" noRot="1" noMove="1" noResize="1" noEditPoints="1" noAdjustHandles="1" noChangeArrowheads="1" noChangeShapeType="1"/>
          </p:cNvSpPr>
          <p:nvPr>
            <p:ph type="sldNum" idx="12"/>
          </p:nvPr>
        </p:nvSpPr>
        <p:spPr>
          <a:xfrm>
            <a:off x="5366236" y="6233258"/>
            <a:ext cx="5511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10</a:t>
            </a:fld>
            <a:endParaRPr/>
          </a:p>
        </p:txBody>
      </p:sp>
      <p:sp>
        <p:nvSpPr>
          <p:cNvPr id="216" name="Google Shape;216;p25"/>
          <p:cNvSpPr txBox="1">
            <a:spLocks noGrp="1" noRot="1" noMove="1" noResize="1" noEditPoints="1" noAdjustHandles="1" noChangeArrowheads="1" noChangeShapeType="1"/>
          </p:cNvSpPr>
          <p:nvPr>
            <p:ph type="title"/>
          </p:nvPr>
        </p:nvSpPr>
        <p:spPr>
          <a:xfrm>
            <a:off x="838200" y="3446798"/>
            <a:ext cx="10515600" cy="751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200" b="1">
                <a:latin typeface="Arial"/>
                <a:ea typeface="Arial"/>
                <a:cs typeface="Arial"/>
                <a:sym typeface="Arial"/>
              </a:rPr>
              <a:t>Future Plan</a:t>
            </a:r>
            <a:endParaRPr sz="6500"/>
          </a:p>
        </p:txBody>
      </p:sp>
      <p:sp>
        <p:nvSpPr>
          <p:cNvPr id="217" name="Google Shape;217;p25"/>
          <p:cNvSpPr txBox="1">
            <a:spLocks noGrp="1" noRot="1" noMove="1" noResize="1" noEditPoints="1" noAdjustHandles="1" noChangeArrowheads="1" noChangeShapeType="1"/>
          </p:cNvSpPr>
          <p:nvPr/>
        </p:nvSpPr>
        <p:spPr>
          <a:xfrm>
            <a:off x="876300" y="1137920"/>
            <a:ext cx="10312500" cy="2184600"/>
          </a:xfrm>
          <a:prstGeom prst="rect">
            <a:avLst/>
          </a:prstGeom>
          <a:noFill/>
          <a:ln>
            <a:noFill/>
          </a:ln>
        </p:spPr>
        <p:txBody>
          <a:bodyPr spcFirstLastPara="1" wrap="square" lIns="91425" tIns="91425" rIns="91425" bIns="91425" anchor="t" anchorCtr="0">
            <a:noAutofit/>
          </a:bodyPr>
          <a:lstStyle/>
          <a:p>
            <a:pPr>
              <a:spcAft>
                <a:spcPts val="120"/>
              </a:spcAft>
            </a:pPr>
            <a:r>
              <a:rPr lang="en-US" sz="2000" b="1" dirty="0">
                <a:latin typeface="Calibri" panose="020F0502020204030204" pitchFamily="34" charset="0"/>
                <a:ea typeface="Calibri" panose="020F0502020204030204" pitchFamily="34" charset="0"/>
                <a:cs typeface="Calibri" panose="020F0502020204030204" pitchFamily="34" charset="0"/>
              </a:rPr>
              <a:t>❖ Developed an explainable mortality prediction framework using machine learning</a:t>
            </a:r>
            <a:r>
              <a:rPr lang="en-US" sz="2000" dirty="0"/>
              <a:t>.</a:t>
            </a:r>
          </a:p>
          <a:p>
            <a:pPr>
              <a:spcAft>
                <a:spcPts val="120"/>
              </a:spcAft>
            </a:pPr>
            <a:r>
              <a:rPr lang="en-US" sz="2000" b="1" dirty="0">
                <a:latin typeface="Calibri" panose="020F0502020204030204" pitchFamily="34" charset="0"/>
                <a:ea typeface="Calibri" panose="020F0502020204030204" pitchFamily="34" charset="0"/>
                <a:cs typeface="Calibri" panose="020F0502020204030204" pitchFamily="34" charset="0"/>
              </a:rPr>
              <a:t>❖ Addressed class imbalance using different sampling techniques.</a:t>
            </a:r>
          </a:p>
          <a:p>
            <a:pPr>
              <a:spcAft>
                <a:spcPts val="120"/>
              </a:spcAft>
            </a:pPr>
            <a:r>
              <a:rPr lang="en-US" sz="2000" b="1" dirty="0">
                <a:latin typeface="Calibri" panose="020F0502020204030204" pitchFamily="34" charset="0"/>
                <a:ea typeface="Calibri" panose="020F0502020204030204" pitchFamily="34" charset="0"/>
                <a:cs typeface="Calibri" panose="020F0502020204030204" pitchFamily="34" charset="0"/>
              </a:rPr>
              <a:t>❖ Compared multiple machine learning models for performance evaluation.</a:t>
            </a:r>
          </a:p>
          <a:p>
            <a:pPr>
              <a:spcAft>
                <a:spcPts val="120"/>
              </a:spcAft>
            </a:pPr>
            <a:r>
              <a:rPr lang="en-US" sz="2000" b="1" dirty="0">
                <a:latin typeface="Calibri" panose="020F0502020204030204" pitchFamily="34" charset="0"/>
                <a:ea typeface="Calibri" panose="020F0502020204030204" pitchFamily="34" charset="0"/>
                <a:cs typeface="Calibri" panose="020F0502020204030204" pitchFamily="34" charset="0"/>
              </a:rPr>
              <a:t>❖ Identified Gradient Boosting with SMOTENC as the best-performing approach.</a:t>
            </a:r>
          </a:p>
          <a:p>
            <a:pPr>
              <a:spcAft>
                <a:spcPts val="120"/>
              </a:spcAft>
            </a:pPr>
            <a:r>
              <a:rPr lang="en-US" sz="2000" b="1" dirty="0">
                <a:latin typeface="Calibri" panose="020F0502020204030204" pitchFamily="34" charset="0"/>
                <a:ea typeface="Calibri" panose="020F0502020204030204" pitchFamily="34" charset="0"/>
                <a:cs typeface="Calibri" panose="020F0502020204030204" pitchFamily="34" charset="0"/>
              </a:rPr>
              <a:t>❖ Enhanced model interpretability using SHAP analysis.</a:t>
            </a:r>
          </a:p>
          <a:p>
            <a:pPr>
              <a:spcAft>
                <a:spcPts val="120"/>
              </a:spcAft>
            </a:pPr>
            <a:r>
              <a:rPr lang="en-US" sz="2000" b="1" dirty="0">
                <a:latin typeface="Calibri" panose="020F0502020204030204" pitchFamily="34" charset="0"/>
                <a:ea typeface="Calibri" panose="020F0502020204030204" pitchFamily="34" charset="0"/>
                <a:cs typeface="Calibri" panose="020F0502020204030204" pitchFamily="34" charset="0"/>
              </a:rPr>
              <a:t>❖ Provided a framework for reliable liver cirrhosis mortality prediction.</a:t>
            </a:r>
          </a:p>
        </p:txBody>
      </p:sp>
      <p:sp>
        <p:nvSpPr>
          <p:cNvPr id="218" name="Google Shape;218;p25"/>
          <p:cNvSpPr txBox="1">
            <a:spLocks noGrp="1" noRot="1" noMove="1" noResize="1" noEditPoints="1" noAdjustHandles="1" noChangeArrowheads="1" noChangeShapeType="1"/>
          </p:cNvSpPr>
          <p:nvPr/>
        </p:nvSpPr>
        <p:spPr>
          <a:xfrm>
            <a:off x="939750" y="4077569"/>
            <a:ext cx="10312500" cy="2118600"/>
          </a:xfrm>
          <a:prstGeom prst="rect">
            <a:avLst/>
          </a:prstGeom>
          <a:noFill/>
          <a:ln>
            <a:noFill/>
          </a:ln>
        </p:spPr>
        <p:txBody>
          <a:bodyPr spcFirstLastPara="1" wrap="square" lIns="91425" tIns="91425" rIns="91425" bIns="91425" anchor="t" anchorCtr="0">
            <a:noAutofit/>
          </a:bodyPr>
          <a:lstStyle/>
          <a:p>
            <a:pPr>
              <a:spcAft>
                <a:spcPts val="130"/>
              </a:spcAft>
            </a:pPr>
            <a:r>
              <a:rPr lang="en-US" sz="2000" b="1" dirty="0">
                <a:latin typeface="Calibri" panose="020F0502020204030204" pitchFamily="34" charset="0"/>
                <a:ea typeface="Calibri" panose="020F0502020204030204" pitchFamily="34" charset="0"/>
                <a:cs typeface="Calibri" panose="020F0502020204030204" pitchFamily="34" charset="0"/>
              </a:rPr>
              <a:t>❖ Validate the model on larger clinical datasets.</a:t>
            </a:r>
          </a:p>
          <a:p>
            <a:pPr>
              <a:spcAft>
                <a:spcPts val="130"/>
              </a:spcAft>
            </a:pPr>
            <a:r>
              <a:rPr lang="en-US" sz="2000" b="1" dirty="0">
                <a:latin typeface="Calibri" panose="020F0502020204030204" pitchFamily="34" charset="0"/>
                <a:ea typeface="Calibri" panose="020F0502020204030204" pitchFamily="34" charset="0"/>
                <a:cs typeface="Calibri" panose="020F0502020204030204" pitchFamily="34" charset="0"/>
              </a:rPr>
              <a:t>❖ Explore deep learning and hybrid models.</a:t>
            </a:r>
          </a:p>
          <a:p>
            <a:pPr>
              <a:spcAft>
                <a:spcPts val="130"/>
              </a:spcAft>
            </a:pPr>
            <a:r>
              <a:rPr lang="en-US" sz="2000" b="1" dirty="0">
                <a:latin typeface="Calibri" panose="020F0502020204030204" pitchFamily="34" charset="0"/>
                <a:ea typeface="Calibri" panose="020F0502020204030204" pitchFamily="34" charset="0"/>
                <a:cs typeface="Calibri" panose="020F0502020204030204" pitchFamily="34" charset="0"/>
              </a:rPr>
              <a:t>❖ Include multi-class mortality prediction.</a:t>
            </a:r>
          </a:p>
          <a:p>
            <a:pPr>
              <a:spcAft>
                <a:spcPts val="130"/>
              </a:spcAft>
            </a:pPr>
            <a:r>
              <a:rPr lang="en-US" sz="2000" b="1" dirty="0">
                <a:latin typeface="Calibri" panose="020F0502020204030204" pitchFamily="34" charset="0"/>
                <a:ea typeface="Calibri" panose="020F0502020204030204" pitchFamily="34" charset="0"/>
                <a:cs typeface="Calibri" panose="020F0502020204030204" pitchFamily="34" charset="0"/>
              </a:rPr>
              <a:t>❖ Improve model robustness and generalizability.</a:t>
            </a:r>
          </a:p>
          <a:p>
            <a:pPr>
              <a:spcAft>
                <a:spcPts val="130"/>
              </a:spcAft>
            </a:pPr>
            <a:r>
              <a:rPr lang="en-US" sz="2000" b="1" dirty="0">
                <a:latin typeface="Calibri" panose="020F0502020204030204" pitchFamily="34" charset="0"/>
                <a:ea typeface="Calibri" panose="020F0502020204030204" pitchFamily="34" charset="0"/>
                <a:cs typeface="Calibri" panose="020F0502020204030204" pitchFamily="34" charset="0"/>
              </a:rPr>
              <a:t>❖ Develop a clinical decision support system.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noRot="1" noMove="1" noResize="1" noEditPoints="1" noAdjustHandles="1" noChangeArrowheads="1" noChangeShapeType="1"/>
          </p:cNvSpPr>
          <p:nvPr>
            <p:ph type="title"/>
          </p:nvPr>
        </p:nvSpPr>
        <p:spPr>
          <a:xfrm>
            <a:off x="838200" y="92565"/>
            <a:ext cx="10515600" cy="751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200" b="1">
                <a:latin typeface="Arial"/>
                <a:ea typeface="Arial"/>
                <a:cs typeface="Arial"/>
                <a:sym typeface="Arial"/>
              </a:rPr>
              <a:t>References</a:t>
            </a:r>
            <a:endParaRPr sz="6500"/>
          </a:p>
        </p:txBody>
      </p:sp>
      <p:sp>
        <p:nvSpPr>
          <p:cNvPr id="224" name="Google Shape;224;p26"/>
          <p:cNvSpPr txBox="1">
            <a:spLocks noGrp="1" noRot="1" noMove="1" noResize="1" noEditPoints="1" noAdjustHandles="1" noChangeArrowheads="1" noChangeShapeType="1"/>
          </p:cNvSpPr>
          <p:nvPr>
            <p:ph type="sldNum" idx="12"/>
          </p:nvPr>
        </p:nvSpPr>
        <p:spPr>
          <a:xfrm>
            <a:off x="5366236" y="6233258"/>
            <a:ext cx="5511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11</a:t>
            </a:fld>
            <a:endParaRPr/>
          </a:p>
        </p:txBody>
      </p:sp>
      <p:sp>
        <p:nvSpPr>
          <p:cNvPr id="225" name="Google Shape;225;p26"/>
          <p:cNvSpPr txBox="1">
            <a:spLocks noGrp="1" noRot="1" noMove="1" noResize="1" noEditPoints="1" noAdjustHandles="1" noChangeArrowheads="1" noChangeShapeType="1"/>
          </p:cNvSpPr>
          <p:nvPr/>
        </p:nvSpPr>
        <p:spPr>
          <a:xfrm>
            <a:off x="838200" y="1062925"/>
            <a:ext cx="10375232" cy="4705200"/>
          </a:xfrm>
          <a:prstGeom prst="rect">
            <a:avLst/>
          </a:prstGeom>
          <a:noFill/>
          <a:ln>
            <a:noFill/>
          </a:ln>
        </p:spPr>
        <p:txBody>
          <a:bodyPr spcFirstLastPara="1" wrap="square" lIns="91425" tIns="91425" rIns="91425" bIns="91425" anchor="t" anchorCtr="0">
            <a:noAutofit/>
          </a:bodyPr>
          <a:lstStyle/>
          <a:p>
            <a:r>
              <a:rPr lang="en-US" sz="1200" b="1" dirty="0"/>
              <a:t>[1]</a:t>
            </a:r>
            <a:r>
              <a:rPr lang="en-US" sz="1200" dirty="0"/>
              <a:t> A. Guo, N. R. Mazumder, D. P. Ladner, and R. E. Foraker, "Predicting mortality among patients with liver cirrhosis in electronic health records with machine learning," </a:t>
            </a:r>
            <a:r>
              <a:rPr lang="en-US" sz="1200" i="1" dirty="0"/>
              <a:t>PLOS ONE</a:t>
            </a:r>
            <a:r>
              <a:rPr lang="en-US" sz="1200" dirty="0"/>
              <a:t>, vol. 16, no. 8, 2021.</a:t>
            </a:r>
          </a:p>
          <a:p>
            <a:r>
              <a:rPr lang="en-US" sz="1200" b="1" dirty="0"/>
              <a:t>[2]</a:t>
            </a:r>
            <a:r>
              <a:rPr lang="en-US" sz="1200" dirty="0"/>
              <a:t> C. Simsek, I. Tekin, H. Sahin, T. K. Sahin, B. Sivri, and Y. H. Balaban, "Artificial intelligence to predict overall survivals of patients with cirrhosis and outcomes of variceal bleeding," </a:t>
            </a:r>
            <a:r>
              <a:rPr lang="en-US" sz="1200" i="1" dirty="0"/>
              <a:t>Hepatology Forum</a:t>
            </a:r>
            <a:r>
              <a:rPr lang="en-US" sz="1200" dirty="0"/>
              <a:t>, vol. 2, no. 2, 2021.</a:t>
            </a:r>
          </a:p>
          <a:p>
            <a:r>
              <a:rPr lang="en-US" sz="1200" b="1" dirty="0"/>
              <a:t>[3]</a:t>
            </a:r>
            <a:r>
              <a:rPr lang="en-US" sz="1200" dirty="0"/>
              <a:t> C. Yu, </a:t>
            </a:r>
            <a:r>
              <a:rPr lang="en-US" sz="1200" i="1" dirty="0"/>
              <a:t>et al.</a:t>
            </a:r>
            <a:r>
              <a:rPr lang="en-US" sz="1200" dirty="0"/>
              <a:t>, "Automated Machine Learning in Predicting 30-Day Mortality in Patients with Non-Cholestatic Cirrhosis," </a:t>
            </a:r>
            <a:r>
              <a:rPr lang="en-US" sz="1200" i="1" dirty="0"/>
              <a:t>Journal of Personalized Medicine</a:t>
            </a:r>
            <a:r>
              <a:rPr lang="en-US" sz="1200" dirty="0"/>
              <a:t>, vol. 12, no. 11, 2022.</a:t>
            </a:r>
          </a:p>
          <a:p>
            <a:r>
              <a:rPr lang="en-US" sz="1200" b="1" dirty="0"/>
              <a:t>[4]</a:t>
            </a:r>
            <a:r>
              <a:rPr lang="en-US" sz="1200" dirty="0"/>
              <a:t> C. Zhang, X. Wang, Y. Li, </a:t>
            </a:r>
            <a:r>
              <a:rPr lang="en-US" sz="1200" i="1" dirty="0"/>
              <a:t>et al.</a:t>
            </a:r>
            <a:r>
              <a:rPr lang="en-US" sz="1200" dirty="0"/>
              <a:t>, "Prognostic Modeling for Liver Cirrhosis Mortality Prediction and Real-Time Health Monitoring from Electronic Health Data," </a:t>
            </a:r>
            <a:r>
              <a:rPr lang="en-US" sz="1200" i="1" dirty="0"/>
              <a:t>Big Data</a:t>
            </a:r>
            <a:r>
              <a:rPr lang="en-US" sz="1200" dirty="0"/>
              <a:t>, vol. 13, no. 2, 2025. </a:t>
            </a:r>
            <a:r>
              <a:rPr lang="en-US" sz="1200" dirty="0" err="1"/>
              <a:t>doi</a:t>
            </a:r>
            <a:r>
              <a:rPr lang="en-US" sz="1200" dirty="0"/>
              <a:t>: </a:t>
            </a:r>
            <a:r>
              <a:rPr lang="en-US" sz="1200" b="1" dirty="0"/>
              <a:t>10.1089/big.2024.0071</a:t>
            </a:r>
            <a:r>
              <a:rPr lang="en-US" sz="1200" dirty="0"/>
              <a:t>.</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812</TotalTime>
  <Words>1086</Words>
  <Application>Microsoft Office PowerPoint</Application>
  <PresentationFormat>Widescreen</PresentationFormat>
  <Paragraphs>77</Paragraphs>
  <Slides>11</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Explainable Mortality Prediction of Liver Cirrhosis Using Machine Learning Models</vt:lpstr>
      <vt:lpstr>Introduction</vt:lpstr>
      <vt:lpstr>Limitation of Literature Review</vt:lpstr>
      <vt:lpstr>Overview of Datasets</vt:lpstr>
      <vt:lpstr>Feature Analysis</vt:lpstr>
      <vt:lpstr>Workflow Overview</vt:lpstr>
      <vt:lpstr>Result Analysis</vt:lpstr>
      <vt:lpstr>Result Analysis</vt:lpstr>
      <vt:lpstr>PowerPoint Presentation</vt:lpstr>
      <vt:lpstr>Contributions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Saifullah Mansur</cp:lastModifiedBy>
  <cp:revision>13</cp:revision>
  <dcterms:modified xsi:type="dcterms:W3CDTF">2026-07-06T06:34:49Z</dcterms:modified>
</cp:coreProperties>
</file>